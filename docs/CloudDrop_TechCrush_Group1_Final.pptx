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8963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'CloudDrop is a production-style cloud file management app — not a tutorial project. It is live right now at d2q0tos3eezbrk.cloudfront.net, serving files from AWS S3, powered by a PostgreSQL database on RDS, and deployed automatically via GitHub Actions.'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problem. The last card is your pivot to CloudDrop. These are real problems faced by individuals and organisations every day.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WHY column for each row — that's what impresses assessors. Highlight the CloudFront + WAF row — most bootcamp projects don't include a CDN or Web Application Firewall. That's enterprise-level thinking.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points: CloudFront provides HTTPS and CDN — the app is served globally with low latency. WAF is configured to COUNT (not block) large file uploads over 8KB to allow multipart uploads. The delete flow removes from BOTH services — no orphaned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Graceful Fallback — most student projects crash when one service fails. CloudDrop keeps running. Then mention AWS WAF — that is enterprise security configuration most developers never touch in their first job.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health endpoint first — it tells you which mode the app is running in. The download endpoint is the most security-conscious one — presigned URLs mean files are NEVER directly exposed to the internet.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screenshot and say: 'This is our actual pipeline — Build number 11. Every step shows a green tick. It completed in 51 seconds. From code push to live deployment with zero manual SSH into the server.'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screenshot speak. Say: 'This is the live application — accessible to anyone with the URL right now. You can see 15 files uploaded across different categories — images, video, audio. The Cloud Connected badge confirms S3 is live.'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 CloudFront + WAF — is what elevates this beyond a standard bootcamp project. Most teams deploy directly to EC2 HTTP. This team added HTTPS, CDN, and a Web Application Firewall. Mention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challenges are documented in the README by the developer who solved them. This slide shows real engineering maturity. The S3 signature fix is particularly impressive — that is an advanced AWS issue that trips up experienced developers.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requirement is checked off. Mention Build #11 — the CI/CD pipeline has run 11 times which means the team iterated and improved the app 11 times. That shows active development, not a one-and-done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is already enterprise-grade — CloudFront, WAF, RDS, GitHub Actions. Authentication is the logical next step since the database already stores file metadata per upload. Docker and Kubernetes are on the team's learning roadmap.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moment here before the conclusion. Say: 'Before we close, we want to acknowledge everyone in Group 1 who contributed to CloudDrop.' Read through the names. Then move to the conclusion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Point to the live URL on screen and say: 'This is not a local demo. You can visit this URL right now on your phone. It is a real application, live on AWS, available to anyone in the world.'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65A82"/>
          </a:solidFill>
          <a:ln w="12700">
            <a:solidFill>
              <a:srgbClr val="065A82"/>
            </a:solidFill>
            <a:prstDash val="solid"/>
          </a:ln>
        </p:spPr>
      </p:sp>
      <p:sp>
        <p:nvSpPr>
          <p:cNvPr id="3" name="Shape 1"/>
          <p:cNvSpPr/>
          <p:nvPr/>
        </p:nvSpPr>
        <p:spPr>
          <a:xfrm>
            <a:off x="-731520" y="-731520"/>
            <a:ext cx="2286000" cy="2286000"/>
          </a:xfrm>
          <a:prstGeom prst="ellipse">
            <a:avLst/>
          </a:prstGeom>
          <a:solidFill>
            <a:srgbClr val="0D9488">
              <a:alpha val="25000"/>
            </a:srgbClr>
          </a:solidFill>
          <a:ln w="12700">
            <a:solidFill>
              <a:srgbClr val="0D9488"/>
            </a:solidFill>
            <a:prstDash val="solid"/>
          </a:ln>
        </p:spPr>
      </p:sp>
      <p:sp>
        <p:nvSpPr>
          <p:cNvPr id="4" name="Shape 2"/>
          <p:cNvSpPr/>
          <p:nvPr/>
        </p:nvSpPr>
        <p:spPr>
          <a:xfrm>
            <a:off x="182880" y="3291840"/>
            <a:ext cx="2926080" cy="2926080"/>
          </a:xfrm>
          <a:prstGeom prst="ellipse">
            <a:avLst/>
          </a:prstGeom>
          <a:solidFill>
            <a:srgbClr val="000000">
              <a:alpha val="40000"/>
            </a:srgbClr>
          </a:solidFill>
          <a:ln w="12700">
            <a:solidFill>
              <a:srgbClr val="0D9488"/>
            </a:solidFill>
            <a:prstDash val="solid"/>
          </a:ln>
        </p:spPr>
      </p:sp>
      <p:sp>
        <p:nvSpPr>
          <p:cNvPr id="5" name="Text 3"/>
          <p:cNvSpPr/>
          <p:nvPr/>
        </p:nvSpPr>
        <p:spPr>
          <a:xfrm>
            <a:off x="274320" y="457200"/>
            <a:ext cx="3108960" cy="1097280"/>
          </a:xfrm>
          <a:prstGeom prst="rect">
            <a:avLst/>
          </a:prstGeom>
          <a:noFill/>
          <a:ln/>
        </p:spPr>
        <p:txBody>
          <a:bodyPr wrap="square" rtlCol="0" anchor="ctr"/>
          <a:lstStyle/>
          <a:p>
            <a:pPr marL="0" indent="0" algn="ctr">
              <a:buNone/>
            </a:pPr>
            <a:r>
              <a:rPr lang="en-US" sz="6000" dirty="0">
                <a:solidFill>
                  <a:srgbClr val="5EEAD4"/>
                </a:solidFill>
              </a:rPr>
              <a:t>☁</a:t>
            </a:r>
            <a:endParaRPr lang="en-US" sz="6000" dirty="0"/>
          </a:p>
        </p:txBody>
      </p:sp>
      <p:sp>
        <p:nvSpPr>
          <p:cNvPr id="6" name="Text 4"/>
          <p:cNvSpPr/>
          <p:nvPr/>
        </p:nvSpPr>
        <p:spPr>
          <a:xfrm>
            <a:off x="182880" y="1508760"/>
            <a:ext cx="329184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CloudDrop</a:t>
            </a:r>
            <a:endParaRPr lang="en-US" sz="3600" dirty="0"/>
          </a:p>
        </p:txBody>
      </p:sp>
      <p:sp>
        <p:nvSpPr>
          <p:cNvPr id="7" name="Text 5"/>
          <p:cNvSpPr/>
          <p:nvPr/>
        </p:nvSpPr>
        <p:spPr>
          <a:xfrm>
            <a:off x="182880" y="2176272"/>
            <a:ext cx="3291840" cy="320040"/>
          </a:xfrm>
          <a:prstGeom prst="rect">
            <a:avLst/>
          </a:prstGeom>
          <a:noFill/>
          <a:ln/>
        </p:spPr>
        <p:txBody>
          <a:bodyPr wrap="square" lIns="0" tIns="0" rIns="0" bIns="0" rtlCol="0" anchor="ctr"/>
          <a:lstStyle/>
          <a:p>
            <a:pPr marL="0" indent="0" algn="ctr">
              <a:buNone/>
            </a:pPr>
            <a:r>
              <a:rPr lang="en-US" sz="1200" dirty="0">
                <a:solidFill>
                  <a:srgbClr val="5EEAD4"/>
                </a:solidFill>
                <a:latin typeface="Calibri" pitchFamily="34" charset="0"/>
                <a:ea typeface="Calibri" pitchFamily="34" charset="-122"/>
                <a:cs typeface="Calibri" pitchFamily="34" charset="-120"/>
              </a:rPr>
              <a:t>File Upload App on AWS</a:t>
            </a:r>
            <a:endParaRPr lang="en-US" sz="1200" dirty="0"/>
          </a:p>
        </p:txBody>
      </p:sp>
      <p:sp>
        <p:nvSpPr>
          <p:cNvPr id="8" name="Shape 6"/>
          <p:cNvSpPr/>
          <p:nvPr/>
        </p:nvSpPr>
        <p:spPr>
          <a:xfrm>
            <a:off x="548640" y="2578608"/>
            <a:ext cx="2560320" cy="36576"/>
          </a:xfrm>
          <a:prstGeom prst="rect">
            <a:avLst/>
          </a:prstGeom>
          <a:solidFill>
            <a:srgbClr val="5EEAD4"/>
          </a:solidFill>
          <a:ln w="12700">
            <a:solidFill>
              <a:srgbClr val="5EEAD4"/>
            </a:solidFill>
            <a:prstDash val="solid"/>
          </a:ln>
        </p:spPr>
      </p:sp>
      <p:sp>
        <p:nvSpPr>
          <p:cNvPr id="9" name="Text 7"/>
          <p:cNvSpPr/>
          <p:nvPr/>
        </p:nvSpPr>
        <p:spPr>
          <a:xfrm>
            <a:off x="182880" y="2697480"/>
            <a:ext cx="3291840" cy="256032"/>
          </a:xfrm>
          <a:prstGeom prst="rect">
            <a:avLst/>
          </a:prstGeom>
          <a:noFill/>
          <a:ln/>
        </p:spPr>
        <p:txBody>
          <a:bodyPr wrap="square" lIns="0" tIns="0" rIns="0" bIns="0" rtlCol="0" anchor="ctr"/>
          <a:lstStyle/>
          <a:p>
            <a:pPr marL="0" indent="0" algn="ctr">
              <a:buNone/>
            </a:pPr>
            <a:r>
              <a:rPr lang="en-US" sz="850" dirty="0">
                <a:solidFill>
                  <a:srgbClr val="CBD5E1"/>
                </a:solidFill>
                <a:latin typeface="Calibri" pitchFamily="34" charset="0"/>
                <a:ea typeface="Calibri" pitchFamily="34" charset="-122"/>
                <a:cs typeface="Calibri" pitchFamily="34" charset="-120"/>
              </a:rPr>
              <a:t>TechCrush Bootcamp  //  Group 1  //  Capstone 2026</a:t>
            </a:r>
            <a:endParaRPr lang="en-US" sz="850" dirty="0"/>
          </a:p>
        </p:txBody>
      </p:sp>
      <p:sp>
        <p:nvSpPr>
          <p:cNvPr id="10" name="Text 8"/>
          <p:cNvSpPr/>
          <p:nvPr/>
        </p:nvSpPr>
        <p:spPr>
          <a:xfrm>
            <a:off x="4023360" y="411480"/>
            <a:ext cx="4754880" cy="274320"/>
          </a:xfrm>
          <a:prstGeom prst="rect">
            <a:avLst/>
          </a:prstGeom>
          <a:noFill/>
          <a:ln/>
        </p:spPr>
        <p:txBody>
          <a:bodyPr wrap="square" lIns="0" tIns="0" rIns="0" bIns="0" rtlCol="0" anchor="ctr"/>
          <a:lstStyle/>
          <a:p>
            <a:pPr marL="0" indent="0" algn="l">
              <a:buNone/>
            </a:pPr>
            <a:r>
              <a:rPr lang="en-US" sz="900" b="1" kern="0" spc="300" dirty="0">
                <a:solidFill>
                  <a:srgbClr val="0D9488"/>
                </a:solidFill>
                <a:latin typeface="Calibri" pitchFamily="34" charset="0"/>
                <a:ea typeface="Calibri" pitchFamily="34" charset="-122"/>
                <a:cs typeface="Calibri" pitchFamily="34" charset="-120"/>
              </a:rPr>
              <a:t>WHAT IS CLOUDDROP?</a:t>
            </a:r>
            <a:endParaRPr lang="en-US" sz="900" dirty="0"/>
          </a:p>
        </p:txBody>
      </p:sp>
      <p:sp>
        <p:nvSpPr>
          <p:cNvPr id="11" name="Text 9"/>
          <p:cNvSpPr/>
          <p:nvPr/>
        </p:nvSpPr>
        <p:spPr>
          <a:xfrm>
            <a:off x="4023360" y="749808"/>
            <a:ext cx="4663440" cy="777240"/>
          </a:xfrm>
          <a:prstGeom prst="rect">
            <a:avLst/>
          </a:prstGeom>
          <a:noFill/>
          <a:ln/>
        </p:spPr>
        <p:txBody>
          <a:bodyPr wrap="square" lIns="0" tIns="0" rIns="0" bIns="0" rtlCol="0" anchor="ctr"/>
          <a:lstStyle/>
          <a:p>
            <a:pPr marL="0" indent="0" algn="l">
              <a:buNone/>
            </a:pPr>
            <a:r>
              <a:rPr lang="en-US" sz="1300" dirty="0">
                <a:solidFill>
                  <a:srgbClr val="CBD5E1"/>
                </a:solidFill>
                <a:latin typeface="Calibri" pitchFamily="34" charset="0"/>
                <a:ea typeface="Calibri" pitchFamily="34" charset="-122"/>
                <a:cs typeface="Calibri" pitchFamily="34" charset="-120"/>
              </a:rPr>
              <a:t>A cloud-native file management platform — upload, store, view, download and delete files securely at scale. Deployed on AWS CloudFront + EC2 + S3 + RDS.</a:t>
            </a:r>
            <a:endParaRPr lang="en-US" sz="1300" dirty="0"/>
          </a:p>
        </p:txBody>
      </p:sp>
      <p:sp>
        <p:nvSpPr>
          <p:cNvPr id="12" name="Shape 10"/>
          <p:cNvSpPr/>
          <p:nvPr/>
        </p:nvSpPr>
        <p:spPr>
          <a:xfrm>
            <a:off x="4023360" y="1572768"/>
            <a:ext cx="4663440" cy="438912"/>
          </a:xfrm>
          <a:prstGeom prst="roundRect">
            <a:avLst>
              <a:gd name="adj" fmla="val 12500"/>
            </a:avLst>
          </a:prstGeom>
          <a:solidFill>
            <a:srgbClr val="0D9488"/>
          </a:solidFill>
          <a:ln w="19050">
            <a:solidFill>
              <a:srgbClr val="5EEAD4"/>
            </a:solidFill>
            <a:prstDash val="solid"/>
          </a:ln>
        </p:spPr>
      </p:sp>
      <p:sp>
        <p:nvSpPr>
          <p:cNvPr id="13" name="Text 11"/>
          <p:cNvSpPr/>
          <p:nvPr/>
        </p:nvSpPr>
        <p:spPr>
          <a:xfrm>
            <a:off x="4023360" y="1572768"/>
            <a:ext cx="4663440" cy="438912"/>
          </a:xfrm>
          <a:prstGeom prst="rect">
            <a:avLst/>
          </a:prstGeom>
          <a:noFill/>
          <a:ln/>
        </p:spPr>
        <p:txBody>
          <a:bodyPr wrap="square" lIns="0" tIns="0" rIns="0" bIns="0" rtlCol="0" anchor="ctr"/>
          <a:lstStyle/>
          <a:p>
            <a:pPr marL="0" indent="0" algn="ctr">
              <a:buNone/>
            </a:pPr>
            <a:r>
              <a:rPr lang="en-US" sz="1200" b="1" dirty="0">
                <a:solidFill>
                  <a:srgbClr val="0A1628"/>
                </a:solidFill>
                <a:latin typeface="Calibri" pitchFamily="34" charset="0"/>
                <a:ea typeface="Calibri" pitchFamily="34" charset="-122"/>
                <a:cs typeface="Calibri" pitchFamily="34" charset="-120"/>
              </a:rPr>
              <a:t>🌐  LIVE: </a:t>
            </a:r>
            <a:r>
              <a:rPr lang="en-US" sz="1300" b="1" u="sng" dirty="0">
                <a:solidFill>
                  <a:srgbClr val="0A1628"/>
                </a:solidFill>
                <a:latin typeface="Courier New" pitchFamily="34" charset="0"/>
                <a:ea typeface="Courier New" pitchFamily="34" charset="-122"/>
                <a:cs typeface="Courier New" pitchFamily="34" charset="-120"/>
              </a:rPr>
              <a:t>d2q0tos3eezbrk.cloudfront.net</a:t>
            </a:r>
            <a:endParaRPr lang="en-US" sz="1200" dirty="0"/>
          </a:p>
        </p:txBody>
      </p:sp>
      <p:sp>
        <p:nvSpPr>
          <p:cNvPr id="14" name="Shape 12"/>
          <p:cNvSpPr/>
          <p:nvPr/>
        </p:nvSpPr>
        <p:spPr>
          <a:xfrm>
            <a:off x="4023360" y="2148840"/>
            <a:ext cx="1444752" cy="1051560"/>
          </a:xfrm>
          <a:prstGeom prst="roundRect">
            <a:avLst>
              <a:gd name="adj" fmla="val 69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5" name="Text 13"/>
          <p:cNvSpPr/>
          <p:nvPr/>
        </p:nvSpPr>
        <p:spPr>
          <a:xfrm>
            <a:off x="4023360" y="2194560"/>
            <a:ext cx="1444752" cy="530352"/>
          </a:xfrm>
          <a:prstGeom prst="rect">
            <a:avLst/>
          </a:prstGeom>
          <a:noFill/>
          <a:ln/>
        </p:spPr>
        <p:txBody>
          <a:bodyPr wrap="square" lIns="0" tIns="0" rIns="0" bIns="0" rtlCol="0" anchor="ctr"/>
          <a:lstStyle/>
          <a:p>
            <a:pPr marL="0" indent="0" algn="ctr">
              <a:buNone/>
            </a:pPr>
            <a:r>
              <a:rPr lang="en-US" sz="3400" b="1" dirty="0">
                <a:solidFill>
                  <a:srgbClr val="5EEAD4"/>
                </a:solidFill>
                <a:latin typeface="Cambria" pitchFamily="34" charset="0"/>
                <a:ea typeface="Cambria" pitchFamily="34" charset="-122"/>
                <a:cs typeface="Cambria" pitchFamily="34" charset="-120"/>
              </a:rPr>
              <a:t>4</a:t>
            </a:r>
            <a:endParaRPr lang="en-US" sz="3400" dirty="0"/>
          </a:p>
        </p:txBody>
      </p:sp>
      <p:sp>
        <p:nvSpPr>
          <p:cNvPr id="16" name="Text 14"/>
          <p:cNvSpPr/>
          <p:nvPr/>
        </p:nvSpPr>
        <p:spPr>
          <a:xfrm>
            <a:off x="4023360" y="2724912"/>
            <a:ext cx="1444752" cy="292608"/>
          </a:xfrm>
          <a:prstGeom prst="rect">
            <a:avLst/>
          </a:prstGeom>
          <a:noFill/>
          <a:ln/>
        </p:spPr>
        <p:txBody>
          <a:bodyPr wrap="square" lIns="0" tIns="0" rIns="0" bIns="0"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AWS Services</a:t>
            </a:r>
            <a:endParaRPr lang="en-US" sz="950" dirty="0"/>
          </a:p>
        </p:txBody>
      </p:sp>
      <p:sp>
        <p:nvSpPr>
          <p:cNvPr id="17" name="Shape 15"/>
          <p:cNvSpPr/>
          <p:nvPr/>
        </p:nvSpPr>
        <p:spPr>
          <a:xfrm>
            <a:off x="5596128" y="2148840"/>
            <a:ext cx="1444752" cy="1051560"/>
          </a:xfrm>
          <a:prstGeom prst="roundRect">
            <a:avLst>
              <a:gd name="adj" fmla="val 69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8" name="Text 16"/>
          <p:cNvSpPr/>
          <p:nvPr/>
        </p:nvSpPr>
        <p:spPr>
          <a:xfrm>
            <a:off x="5596128" y="2194560"/>
            <a:ext cx="1444752" cy="530352"/>
          </a:xfrm>
          <a:prstGeom prst="rect">
            <a:avLst/>
          </a:prstGeom>
          <a:noFill/>
          <a:ln/>
        </p:spPr>
        <p:txBody>
          <a:bodyPr wrap="square" lIns="0" tIns="0" rIns="0" bIns="0" rtlCol="0" anchor="ctr"/>
          <a:lstStyle/>
          <a:p>
            <a:pPr marL="0" indent="0" algn="ctr">
              <a:buNone/>
            </a:pPr>
            <a:r>
              <a:rPr lang="en-US" sz="3400" b="1" dirty="0">
                <a:solidFill>
                  <a:srgbClr val="5EEAD4"/>
                </a:solidFill>
                <a:latin typeface="Cambria" pitchFamily="34" charset="0"/>
                <a:ea typeface="Cambria" pitchFamily="34" charset="-122"/>
                <a:cs typeface="Cambria" pitchFamily="34" charset="-120"/>
              </a:rPr>
              <a:t>7</a:t>
            </a:r>
            <a:endParaRPr lang="en-US" sz="3400" dirty="0"/>
          </a:p>
        </p:txBody>
      </p:sp>
      <p:sp>
        <p:nvSpPr>
          <p:cNvPr id="19" name="Text 17"/>
          <p:cNvSpPr/>
          <p:nvPr/>
        </p:nvSpPr>
        <p:spPr>
          <a:xfrm>
            <a:off x="5596128" y="2724912"/>
            <a:ext cx="1444752" cy="292608"/>
          </a:xfrm>
          <a:prstGeom prst="rect">
            <a:avLst/>
          </a:prstGeom>
          <a:noFill/>
          <a:ln/>
        </p:spPr>
        <p:txBody>
          <a:bodyPr wrap="square" lIns="0" tIns="0" rIns="0" bIns="0"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Tech Layers</a:t>
            </a:r>
            <a:endParaRPr lang="en-US" sz="950" dirty="0"/>
          </a:p>
        </p:txBody>
      </p:sp>
      <p:sp>
        <p:nvSpPr>
          <p:cNvPr id="20" name="Shape 18"/>
          <p:cNvSpPr/>
          <p:nvPr/>
        </p:nvSpPr>
        <p:spPr>
          <a:xfrm>
            <a:off x="7168896" y="2148840"/>
            <a:ext cx="1444752" cy="1051560"/>
          </a:xfrm>
          <a:prstGeom prst="roundRect">
            <a:avLst>
              <a:gd name="adj" fmla="val 69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1" name="Text 19"/>
          <p:cNvSpPr/>
          <p:nvPr/>
        </p:nvSpPr>
        <p:spPr>
          <a:xfrm>
            <a:off x="7168896" y="2194560"/>
            <a:ext cx="1444752" cy="530352"/>
          </a:xfrm>
          <a:prstGeom prst="rect">
            <a:avLst/>
          </a:prstGeom>
          <a:noFill/>
          <a:ln/>
        </p:spPr>
        <p:txBody>
          <a:bodyPr wrap="square" lIns="0" tIns="0" rIns="0" bIns="0" rtlCol="0" anchor="ctr"/>
          <a:lstStyle/>
          <a:p>
            <a:pPr marL="0" indent="0" algn="ctr">
              <a:buNone/>
            </a:pPr>
            <a:r>
              <a:rPr lang="en-US" sz="3400" b="1" dirty="0">
                <a:solidFill>
                  <a:srgbClr val="5EEAD4"/>
                </a:solidFill>
                <a:latin typeface="Cambria" pitchFamily="34" charset="0"/>
                <a:ea typeface="Cambria" pitchFamily="34" charset="-122"/>
                <a:cs typeface="Cambria" pitchFamily="34" charset="-120"/>
              </a:rPr>
              <a:t>1</a:t>
            </a:r>
            <a:endParaRPr lang="en-US" sz="3400" dirty="0"/>
          </a:p>
        </p:txBody>
      </p:sp>
      <p:sp>
        <p:nvSpPr>
          <p:cNvPr id="22" name="Text 20"/>
          <p:cNvSpPr/>
          <p:nvPr/>
        </p:nvSpPr>
        <p:spPr>
          <a:xfrm>
            <a:off x="7168896" y="2724912"/>
            <a:ext cx="1444752" cy="292608"/>
          </a:xfrm>
          <a:prstGeom prst="rect">
            <a:avLst/>
          </a:prstGeom>
          <a:noFill/>
          <a:ln/>
        </p:spPr>
        <p:txBody>
          <a:bodyPr wrap="square" lIns="0" tIns="0" rIns="0" bIns="0" rtlCol="0" anchor="ctr"/>
          <a:lstStyle/>
          <a:p>
            <a:pPr marL="0" indent="0" algn="ctr">
              <a:buNone/>
            </a:pPr>
            <a:r>
              <a:rPr lang="en-US" sz="950" dirty="0">
                <a:solidFill>
                  <a:srgbClr val="CBD5E1"/>
                </a:solidFill>
                <a:latin typeface="Calibri" pitchFamily="34" charset="0"/>
                <a:ea typeface="Calibri" pitchFamily="34" charset="-122"/>
                <a:cs typeface="Calibri" pitchFamily="34" charset="-120"/>
              </a:rPr>
              <a:t>Live App</a:t>
            </a:r>
            <a:endParaRPr lang="en-US" sz="950" dirty="0"/>
          </a:p>
        </p:txBody>
      </p:sp>
      <p:sp>
        <p:nvSpPr>
          <p:cNvPr id="23" name="Shape 21"/>
          <p:cNvSpPr/>
          <p:nvPr/>
        </p:nvSpPr>
        <p:spPr>
          <a:xfrm>
            <a:off x="4041648" y="3374136"/>
            <a:ext cx="118872" cy="118872"/>
          </a:xfrm>
          <a:prstGeom prst="ellipse">
            <a:avLst/>
          </a:prstGeom>
          <a:solidFill>
            <a:srgbClr val="0D9488"/>
          </a:solidFill>
          <a:ln w="12700">
            <a:solidFill>
              <a:srgbClr val="0D9488"/>
            </a:solidFill>
            <a:prstDash val="solid"/>
          </a:ln>
        </p:spPr>
      </p:sp>
      <p:sp>
        <p:nvSpPr>
          <p:cNvPr id="24" name="Text 22"/>
          <p:cNvSpPr/>
          <p:nvPr/>
        </p:nvSpPr>
        <p:spPr>
          <a:xfrm>
            <a:off x="4251960" y="3337560"/>
            <a:ext cx="4389120" cy="274320"/>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Upload files to AWS S3</a:t>
            </a:r>
            <a:endParaRPr lang="en-US" sz="1200" dirty="0"/>
          </a:p>
        </p:txBody>
      </p:sp>
      <p:sp>
        <p:nvSpPr>
          <p:cNvPr id="25" name="Shape 23"/>
          <p:cNvSpPr/>
          <p:nvPr/>
        </p:nvSpPr>
        <p:spPr>
          <a:xfrm>
            <a:off x="4041648" y="3721608"/>
            <a:ext cx="118872" cy="118872"/>
          </a:xfrm>
          <a:prstGeom prst="ellipse">
            <a:avLst/>
          </a:prstGeom>
          <a:solidFill>
            <a:srgbClr val="0D9488"/>
          </a:solidFill>
          <a:ln w="12700">
            <a:solidFill>
              <a:srgbClr val="0D9488"/>
            </a:solidFill>
            <a:prstDash val="solid"/>
          </a:ln>
        </p:spPr>
      </p:sp>
      <p:sp>
        <p:nvSpPr>
          <p:cNvPr id="26" name="Text 24"/>
          <p:cNvSpPr/>
          <p:nvPr/>
        </p:nvSpPr>
        <p:spPr>
          <a:xfrm>
            <a:off x="4251960" y="3685032"/>
            <a:ext cx="4389120" cy="274320"/>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Presigned secure downloads</a:t>
            </a:r>
            <a:endParaRPr lang="en-US" sz="1200" dirty="0"/>
          </a:p>
        </p:txBody>
      </p:sp>
      <p:sp>
        <p:nvSpPr>
          <p:cNvPr id="27" name="Shape 25"/>
          <p:cNvSpPr/>
          <p:nvPr/>
        </p:nvSpPr>
        <p:spPr>
          <a:xfrm>
            <a:off x="4041648" y="4069080"/>
            <a:ext cx="118872" cy="118872"/>
          </a:xfrm>
          <a:prstGeom prst="ellipse">
            <a:avLst/>
          </a:prstGeom>
          <a:solidFill>
            <a:srgbClr val="0D9488"/>
          </a:solidFill>
          <a:ln w="12700">
            <a:solidFill>
              <a:srgbClr val="0D9488"/>
            </a:solidFill>
            <a:prstDash val="solid"/>
          </a:ln>
        </p:spPr>
      </p:sp>
      <p:sp>
        <p:nvSpPr>
          <p:cNvPr id="28" name="Text 26"/>
          <p:cNvSpPr/>
          <p:nvPr/>
        </p:nvSpPr>
        <p:spPr>
          <a:xfrm>
            <a:off x="4251960" y="4032504"/>
            <a:ext cx="4389120" cy="274320"/>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Search, filter &amp; manage files</a:t>
            </a:r>
            <a:endParaRPr lang="en-US" sz="1200" dirty="0"/>
          </a:p>
        </p:txBody>
      </p:sp>
      <p:sp>
        <p:nvSpPr>
          <p:cNvPr id="29" name="Shape 27"/>
          <p:cNvSpPr/>
          <p:nvPr/>
        </p:nvSpPr>
        <p:spPr>
          <a:xfrm>
            <a:off x="4041648" y="4416552"/>
            <a:ext cx="118872" cy="118872"/>
          </a:xfrm>
          <a:prstGeom prst="ellipse">
            <a:avLst/>
          </a:prstGeom>
          <a:solidFill>
            <a:srgbClr val="0D9488"/>
          </a:solidFill>
          <a:ln w="12700">
            <a:solidFill>
              <a:srgbClr val="0D9488"/>
            </a:solidFill>
            <a:prstDash val="solid"/>
          </a:ln>
        </p:spPr>
      </p:sp>
      <p:sp>
        <p:nvSpPr>
          <p:cNvPr id="30" name="Text 28"/>
          <p:cNvSpPr/>
          <p:nvPr/>
        </p:nvSpPr>
        <p:spPr>
          <a:xfrm>
            <a:off x="4251960" y="4379976"/>
            <a:ext cx="4389120" cy="274320"/>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Delete from S3 + database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The Problem We're Solving</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Why organisations need cloud-based file management</a:t>
            </a:r>
            <a:endParaRPr lang="en-US" sz="1200" dirty="0"/>
          </a:p>
        </p:txBody>
      </p:sp>
      <p:sp>
        <p:nvSpPr>
          <p:cNvPr id="4" name="Shape 2"/>
          <p:cNvSpPr/>
          <p:nvPr/>
        </p:nvSpPr>
        <p:spPr>
          <a:xfrm>
            <a:off x="292608" y="1207008"/>
            <a:ext cx="2743200" cy="1572768"/>
          </a:xfrm>
          <a:prstGeom prst="roundRect">
            <a:avLst>
              <a:gd name="adj" fmla="val 46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Text 3"/>
          <p:cNvSpPr/>
          <p:nvPr/>
        </p:nvSpPr>
        <p:spPr>
          <a:xfrm>
            <a:off x="420624" y="1344168"/>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1005840" y="1344168"/>
            <a:ext cx="1920240" cy="34747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Limited Storage</a:t>
            </a:r>
            <a:endParaRPr lang="en-US" sz="1200" dirty="0"/>
          </a:p>
        </p:txBody>
      </p:sp>
      <p:sp>
        <p:nvSpPr>
          <p:cNvPr id="7" name="Text 5"/>
          <p:cNvSpPr/>
          <p:nvPr/>
        </p:nvSpPr>
        <p:spPr>
          <a:xfrm>
            <a:off x="420624" y="1773936"/>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Local drives run out quickly with no easy way to expand capacity.</a:t>
            </a:r>
            <a:endParaRPr lang="en-US" sz="1000" dirty="0"/>
          </a:p>
        </p:txBody>
      </p:sp>
      <p:sp>
        <p:nvSpPr>
          <p:cNvPr id="8" name="Shape 6"/>
          <p:cNvSpPr/>
          <p:nvPr/>
        </p:nvSpPr>
        <p:spPr>
          <a:xfrm>
            <a:off x="3191256" y="1207008"/>
            <a:ext cx="2743200" cy="1572768"/>
          </a:xfrm>
          <a:prstGeom prst="roundRect">
            <a:avLst>
              <a:gd name="adj" fmla="val 46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9" name="Text 7"/>
          <p:cNvSpPr/>
          <p:nvPr/>
        </p:nvSpPr>
        <p:spPr>
          <a:xfrm>
            <a:off x="3319272" y="1344168"/>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904488" y="1344168"/>
            <a:ext cx="1920240" cy="34747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Poor Accessibility</a:t>
            </a:r>
            <a:endParaRPr lang="en-US" sz="1200" dirty="0"/>
          </a:p>
        </p:txBody>
      </p:sp>
      <p:sp>
        <p:nvSpPr>
          <p:cNvPr id="11" name="Text 9"/>
          <p:cNvSpPr/>
          <p:nvPr/>
        </p:nvSpPr>
        <p:spPr>
          <a:xfrm>
            <a:off x="3319272" y="1773936"/>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Files locked to one device — inaccessible remotely or by teammates.</a:t>
            </a:r>
            <a:endParaRPr lang="en-US" sz="1000" dirty="0"/>
          </a:p>
        </p:txBody>
      </p:sp>
      <p:sp>
        <p:nvSpPr>
          <p:cNvPr id="12" name="Shape 10"/>
          <p:cNvSpPr/>
          <p:nvPr/>
        </p:nvSpPr>
        <p:spPr>
          <a:xfrm>
            <a:off x="6089904" y="1207008"/>
            <a:ext cx="2743200" cy="1572768"/>
          </a:xfrm>
          <a:prstGeom prst="roundRect">
            <a:avLst>
              <a:gd name="adj" fmla="val 46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3" name="Text 11"/>
          <p:cNvSpPr/>
          <p:nvPr/>
        </p:nvSpPr>
        <p:spPr>
          <a:xfrm>
            <a:off x="6217920" y="1344168"/>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6803136" y="1344168"/>
            <a:ext cx="1920240" cy="34747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Data Loss Risk</a:t>
            </a:r>
            <a:endParaRPr lang="en-US" sz="1200" dirty="0"/>
          </a:p>
        </p:txBody>
      </p:sp>
      <p:sp>
        <p:nvSpPr>
          <p:cNvPr id="15" name="Text 13"/>
          <p:cNvSpPr/>
          <p:nvPr/>
        </p:nvSpPr>
        <p:spPr>
          <a:xfrm>
            <a:off x="6217920" y="1773936"/>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No automatic backups. One hardware failure can wipe everything permanently.</a:t>
            </a:r>
            <a:endParaRPr lang="en-US" sz="1000" dirty="0"/>
          </a:p>
        </p:txBody>
      </p:sp>
      <p:sp>
        <p:nvSpPr>
          <p:cNvPr id="16" name="Shape 14"/>
          <p:cNvSpPr/>
          <p:nvPr/>
        </p:nvSpPr>
        <p:spPr>
          <a:xfrm>
            <a:off x="292608" y="2962656"/>
            <a:ext cx="2743200" cy="1572768"/>
          </a:xfrm>
          <a:prstGeom prst="roundRect">
            <a:avLst>
              <a:gd name="adj" fmla="val 46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Text 15"/>
          <p:cNvSpPr/>
          <p:nvPr/>
        </p:nvSpPr>
        <p:spPr>
          <a:xfrm>
            <a:off x="420624" y="309981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005840" y="3099816"/>
            <a:ext cx="1920240" cy="34747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No Scalability</a:t>
            </a:r>
            <a:endParaRPr lang="en-US" sz="1200" dirty="0"/>
          </a:p>
        </p:txBody>
      </p:sp>
      <p:sp>
        <p:nvSpPr>
          <p:cNvPr id="19" name="Text 17"/>
          <p:cNvSpPr/>
          <p:nvPr/>
        </p:nvSpPr>
        <p:spPr>
          <a:xfrm>
            <a:off x="420624" y="3529584"/>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Traditional systems can't grow with demand — upgrades are slow and costly.</a:t>
            </a:r>
            <a:endParaRPr lang="en-US" sz="1000" dirty="0"/>
          </a:p>
        </p:txBody>
      </p:sp>
      <p:sp>
        <p:nvSpPr>
          <p:cNvPr id="20" name="Shape 18"/>
          <p:cNvSpPr/>
          <p:nvPr/>
        </p:nvSpPr>
        <p:spPr>
          <a:xfrm>
            <a:off x="3191256" y="2962656"/>
            <a:ext cx="2743200" cy="1572768"/>
          </a:xfrm>
          <a:prstGeom prst="roundRect">
            <a:avLst>
              <a:gd name="adj" fmla="val 46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1" name="Text 19"/>
          <p:cNvSpPr/>
          <p:nvPr/>
        </p:nvSpPr>
        <p:spPr>
          <a:xfrm>
            <a:off x="3319272" y="309981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904488" y="3099816"/>
            <a:ext cx="1920240" cy="347472"/>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Poor File Management</a:t>
            </a:r>
            <a:endParaRPr lang="en-US" sz="1200" dirty="0"/>
          </a:p>
        </p:txBody>
      </p:sp>
      <p:sp>
        <p:nvSpPr>
          <p:cNvPr id="23" name="Text 21"/>
          <p:cNvSpPr/>
          <p:nvPr/>
        </p:nvSpPr>
        <p:spPr>
          <a:xfrm>
            <a:off x="3319272" y="3529584"/>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No structured way to search, track, or organise who uploaded what and when.</a:t>
            </a:r>
            <a:endParaRPr lang="en-US" sz="1000" dirty="0"/>
          </a:p>
        </p:txBody>
      </p:sp>
      <p:sp>
        <p:nvSpPr>
          <p:cNvPr id="24" name="Shape 22"/>
          <p:cNvSpPr/>
          <p:nvPr/>
        </p:nvSpPr>
        <p:spPr>
          <a:xfrm>
            <a:off x="6089904" y="2962656"/>
            <a:ext cx="2743200" cy="1572768"/>
          </a:xfrm>
          <a:prstGeom prst="roundRect">
            <a:avLst>
              <a:gd name="adj" fmla="val 4651"/>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25" name="Text 23"/>
          <p:cNvSpPr/>
          <p:nvPr/>
        </p:nvSpPr>
        <p:spPr>
          <a:xfrm>
            <a:off x="6217920" y="309981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6803136" y="3099816"/>
            <a:ext cx="1920240" cy="347472"/>
          </a:xfrm>
          <a:prstGeom prst="rect">
            <a:avLst/>
          </a:prstGeom>
          <a:noFill/>
          <a:ln/>
        </p:spPr>
        <p:txBody>
          <a:bodyPr wrap="square" lIns="0" tIns="0" rIns="0" bIns="0" rtlCol="0" anchor="ctr"/>
          <a:lstStyle/>
          <a:p>
            <a:pPr marL="0" indent="0" algn="l">
              <a:buNone/>
            </a:pPr>
            <a:r>
              <a:rPr lang="en-US" sz="1200" b="1" dirty="0">
                <a:solidFill>
                  <a:srgbClr val="5EEAD4"/>
                </a:solidFill>
                <a:latin typeface="Calibri" pitchFamily="34" charset="0"/>
                <a:ea typeface="Calibri" pitchFamily="34" charset="-122"/>
                <a:cs typeface="Calibri" pitchFamily="34" charset="-120"/>
              </a:rPr>
              <a:t>CloudDrop Solves This</a:t>
            </a:r>
            <a:endParaRPr lang="en-US" sz="1200" dirty="0"/>
          </a:p>
        </p:txBody>
      </p:sp>
      <p:sp>
        <p:nvSpPr>
          <p:cNvPr id="27" name="Text 25"/>
          <p:cNvSpPr/>
          <p:nvPr/>
        </p:nvSpPr>
        <p:spPr>
          <a:xfrm>
            <a:off x="6217920" y="3529584"/>
            <a:ext cx="2514600" cy="77724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Scalable, accessible, secure cloud storage — AWS S3 + PostgreSQL + CloudFront.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Tech Stack — Every Layer Explained</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What was used, what role it plays, and why it was chosen</a:t>
            </a:r>
            <a:endParaRPr lang="en-US" sz="1200" dirty="0"/>
          </a:p>
        </p:txBody>
      </p:sp>
      <p:sp>
        <p:nvSpPr>
          <p:cNvPr id="4" name="Shape 2"/>
          <p:cNvSpPr/>
          <p:nvPr/>
        </p:nvSpPr>
        <p:spPr>
          <a:xfrm>
            <a:off x="292608" y="1115568"/>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Shape 3"/>
          <p:cNvSpPr/>
          <p:nvPr/>
        </p:nvSpPr>
        <p:spPr>
          <a:xfrm>
            <a:off x="320040" y="1152144"/>
            <a:ext cx="1691640" cy="384048"/>
          </a:xfrm>
          <a:prstGeom prst="roundRect">
            <a:avLst>
              <a:gd name="adj" fmla="val 11905"/>
            </a:avLst>
          </a:prstGeom>
          <a:solidFill>
            <a:srgbClr val="0D9488"/>
          </a:solidFill>
          <a:ln w="12700">
            <a:solidFill>
              <a:srgbClr val="0D9488"/>
            </a:solidFill>
            <a:prstDash val="solid"/>
          </a:ln>
        </p:spPr>
      </p:sp>
      <p:sp>
        <p:nvSpPr>
          <p:cNvPr id="6" name="Text 4"/>
          <p:cNvSpPr/>
          <p:nvPr/>
        </p:nvSpPr>
        <p:spPr>
          <a:xfrm>
            <a:off x="320040" y="1152144"/>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Frontend</a:t>
            </a:r>
            <a:endParaRPr lang="en-US" sz="1000" dirty="0"/>
          </a:p>
        </p:txBody>
      </p:sp>
      <p:sp>
        <p:nvSpPr>
          <p:cNvPr id="7" name="Text 5"/>
          <p:cNvSpPr/>
          <p:nvPr/>
        </p:nvSpPr>
        <p:spPr>
          <a:xfrm>
            <a:off x="2103120" y="1188720"/>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React + Vite</a:t>
            </a:r>
            <a:endParaRPr lang="en-US" sz="1200" dirty="0"/>
          </a:p>
        </p:txBody>
      </p:sp>
      <p:sp>
        <p:nvSpPr>
          <p:cNvPr id="8" name="Text 6"/>
          <p:cNvSpPr/>
          <p:nvPr/>
        </p:nvSpPr>
        <p:spPr>
          <a:xfrm>
            <a:off x="4846320" y="1188720"/>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Dynamic UI — file list updates instantly. Vite provides fast production builds.</a:t>
            </a:r>
            <a:endParaRPr lang="en-US" sz="1050" dirty="0"/>
          </a:p>
        </p:txBody>
      </p:sp>
      <p:sp>
        <p:nvSpPr>
          <p:cNvPr id="9" name="Shape 7"/>
          <p:cNvSpPr/>
          <p:nvPr/>
        </p:nvSpPr>
        <p:spPr>
          <a:xfrm>
            <a:off x="292608" y="1636776"/>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0" name="Shape 8"/>
          <p:cNvSpPr/>
          <p:nvPr/>
        </p:nvSpPr>
        <p:spPr>
          <a:xfrm>
            <a:off x="320040" y="1673352"/>
            <a:ext cx="1691640" cy="384048"/>
          </a:xfrm>
          <a:prstGeom prst="roundRect">
            <a:avLst>
              <a:gd name="adj" fmla="val 11905"/>
            </a:avLst>
          </a:prstGeom>
          <a:solidFill>
            <a:srgbClr val="0891B2"/>
          </a:solidFill>
          <a:ln w="12700">
            <a:solidFill>
              <a:srgbClr val="0891B2"/>
            </a:solidFill>
            <a:prstDash val="solid"/>
          </a:ln>
        </p:spPr>
      </p:sp>
      <p:sp>
        <p:nvSpPr>
          <p:cNvPr id="11" name="Text 9"/>
          <p:cNvSpPr/>
          <p:nvPr/>
        </p:nvSpPr>
        <p:spPr>
          <a:xfrm>
            <a:off x="320040" y="1673352"/>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Backend</a:t>
            </a:r>
            <a:endParaRPr lang="en-US" sz="1000" dirty="0"/>
          </a:p>
        </p:txBody>
      </p:sp>
      <p:sp>
        <p:nvSpPr>
          <p:cNvPr id="12" name="Text 10"/>
          <p:cNvSpPr/>
          <p:nvPr/>
        </p:nvSpPr>
        <p:spPr>
          <a:xfrm>
            <a:off x="2103120" y="1709928"/>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Node.js + Express</a:t>
            </a:r>
            <a:endParaRPr lang="en-US" sz="1200" dirty="0"/>
          </a:p>
        </p:txBody>
      </p:sp>
      <p:sp>
        <p:nvSpPr>
          <p:cNvPr id="13" name="Text 11"/>
          <p:cNvSpPr/>
          <p:nvPr/>
        </p:nvSpPr>
        <p:spPr>
          <a:xfrm>
            <a:off x="4846320" y="1709928"/>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Handles all API logic. Sits between React and AWS — keeps credentials secure on server.</a:t>
            </a:r>
            <a:endParaRPr lang="en-US" sz="1050" dirty="0"/>
          </a:p>
        </p:txBody>
      </p:sp>
      <p:sp>
        <p:nvSpPr>
          <p:cNvPr id="14" name="Shape 12"/>
          <p:cNvSpPr/>
          <p:nvPr/>
        </p:nvSpPr>
        <p:spPr>
          <a:xfrm>
            <a:off x="292608" y="2157984"/>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5" name="Shape 13"/>
          <p:cNvSpPr/>
          <p:nvPr/>
        </p:nvSpPr>
        <p:spPr>
          <a:xfrm>
            <a:off x="320040" y="2194560"/>
            <a:ext cx="1691640" cy="384048"/>
          </a:xfrm>
          <a:prstGeom prst="roundRect">
            <a:avLst>
              <a:gd name="adj" fmla="val 11905"/>
            </a:avLst>
          </a:prstGeom>
          <a:solidFill>
            <a:srgbClr val="065A82"/>
          </a:solidFill>
          <a:ln w="12700">
            <a:solidFill>
              <a:srgbClr val="065A82"/>
            </a:solidFill>
            <a:prstDash val="solid"/>
          </a:ln>
        </p:spPr>
      </p:sp>
      <p:sp>
        <p:nvSpPr>
          <p:cNvPr id="16" name="Text 14"/>
          <p:cNvSpPr/>
          <p:nvPr/>
        </p:nvSpPr>
        <p:spPr>
          <a:xfrm>
            <a:off x="320040" y="2194560"/>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File Storage</a:t>
            </a:r>
            <a:endParaRPr lang="en-US" sz="1000" dirty="0"/>
          </a:p>
        </p:txBody>
      </p:sp>
      <p:sp>
        <p:nvSpPr>
          <p:cNvPr id="17" name="Text 15"/>
          <p:cNvSpPr/>
          <p:nvPr/>
        </p:nvSpPr>
        <p:spPr>
          <a:xfrm>
            <a:off x="2103120" y="2231136"/>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Amazon S3</a:t>
            </a:r>
            <a:endParaRPr lang="en-US" sz="1200" dirty="0"/>
          </a:p>
        </p:txBody>
      </p:sp>
      <p:sp>
        <p:nvSpPr>
          <p:cNvPr id="18" name="Text 16"/>
          <p:cNvSpPr/>
          <p:nvPr/>
        </p:nvSpPr>
        <p:spPr>
          <a:xfrm>
            <a:off x="4846320" y="2231136"/>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Stores actual files. Scalable, durable, 99.999999999% durability. 50MB upload limit.</a:t>
            </a:r>
            <a:endParaRPr lang="en-US" sz="1050" dirty="0"/>
          </a:p>
        </p:txBody>
      </p:sp>
      <p:sp>
        <p:nvSpPr>
          <p:cNvPr id="19" name="Shape 17"/>
          <p:cNvSpPr/>
          <p:nvPr/>
        </p:nvSpPr>
        <p:spPr>
          <a:xfrm>
            <a:off x="292608" y="2679192"/>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0" name="Shape 18"/>
          <p:cNvSpPr/>
          <p:nvPr/>
        </p:nvSpPr>
        <p:spPr>
          <a:xfrm>
            <a:off x="320040" y="2715768"/>
            <a:ext cx="1691640" cy="384048"/>
          </a:xfrm>
          <a:prstGeom prst="roundRect">
            <a:avLst>
              <a:gd name="adj" fmla="val 11905"/>
            </a:avLst>
          </a:prstGeom>
          <a:solidFill>
            <a:srgbClr val="0E7490"/>
          </a:solidFill>
          <a:ln w="12700">
            <a:solidFill>
              <a:srgbClr val="0E7490"/>
            </a:solidFill>
            <a:prstDash val="solid"/>
          </a:ln>
        </p:spPr>
      </p:sp>
      <p:sp>
        <p:nvSpPr>
          <p:cNvPr id="21" name="Text 19"/>
          <p:cNvSpPr/>
          <p:nvPr/>
        </p:nvSpPr>
        <p:spPr>
          <a:xfrm>
            <a:off x="320040" y="2715768"/>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Database</a:t>
            </a:r>
            <a:endParaRPr lang="en-US" sz="1000" dirty="0"/>
          </a:p>
        </p:txBody>
      </p:sp>
      <p:sp>
        <p:nvSpPr>
          <p:cNvPr id="22" name="Text 20"/>
          <p:cNvSpPr/>
          <p:nvPr/>
        </p:nvSpPr>
        <p:spPr>
          <a:xfrm>
            <a:off x="2103120" y="2752344"/>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PostgreSQL on RDS</a:t>
            </a:r>
            <a:endParaRPr lang="en-US" sz="1200" dirty="0"/>
          </a:p>
        </p:txBody>
      </p:sp>
      <p:sp>
        <p:nvSpPr>
          <p:cNvPr id="23" name="Text 21"/>
          <p:cNvSpPr/>
          <p:nvPr/>
        </p:nvSpPr>
        <p:spPr>
          <a:xfrm>
            <a:off x="4846320" y="2752344"/>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Stores file metadata — name, size, date, category. Enables search and filtering.</a:t>
            </a:r>
            <a:endParaRPr lang="en-US" sz="1050" dirty="0"/>
          </a:p>
        </p:txBody>
      </p:sp>
      <p:sp>
        <p:nvSpPr>
          <p:cNvPr id="24" name="Shape 22"/>
          <p:cNvSpPr/>
          <p:nvPr/>
        </p:nvSpPr>
        <p:spPr>
          <a:xfrm>
            <a:off x="292608" y="3200400"/>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5" name="Shape 23"/>
          <p:cNvSpPr/>
          <p:nvPr/>
        </p:nvSpPr>
        <p:spPr>
          <a:xfrm>
            <a:off x="320040" y="3236976"/>
            <a:ext cx="1691640" cy="384048"/>
          </a:xfrm>
          <a:prstGeom prst="roundRect">
            <a:avLst>
              <a:gd name="adj" fmla="val 11905"/>
            </a:avLst>
          </a:prstGeom>
          <a:solidFill>
            <a:srgbClr val="7C3AED"/>
          </a:solidFill>
          <a:ln w="12700">
            <a:solidFill>
              <a:srgbClr val="7C3AED"/>
            </a:solidFill>
            <a:prstDash val="solid"/>
          </a:ln>
        </p:spPr>
      </p:sp>
      <p:sp>
        <p:nvSpPr>
          <p:cNvPr id="26" name="Text 24"/>
          <p:cNvSpPr/>
          <p:nvPr/>
        </p:nvSpPr>
        <p:spPr>
          <a:xfrm>
            <a:off x="320040" y="3236976"/>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CDN + Security</a:t>
            </a:r>
            <a:endParaRPr lang="en-US" sz="1000" dirty="0"/>
          </a:p>
        </p:txBody>
      </p:sp>
      <p:sp>
        <p:nvSpPr>
          <p:cNvPr id="27" name="Text 25"/>
          <p:cNvSpPr/>
          <p:nvPr/>
        </p:nvSpPr>
        <p:spPr>
          <a:xfrm>
            <a:off x="2103120" y="3273552"/>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CloudFront + AWS WAF</a:t>
            </a:r>
            <a:endParaRPr lang="en-US" sz="1200" dirty="0"/>
          </a:p>
        </p:txBody>
      </p:sp>
      <p:sp>
        <p:nvSpPr>
          <p:cNvPr id="28" name="Text 26"/>
          <p:cNvSpPr/>
          <p:nvPr/>
        </p:nvSpPr>
        <p:spPr>
          <a:xfrm>
            <a:off x="4846320" y="3273552"/>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HTTPS globally via CDN. WAF protects against malicious traffic. Custom origin to EC2.</a:t>
            </a:r>
            <a:endParaRPr lang="en-US" sz="1050" dirty="0"/>
          </a:p>
        </p:txBody>
      </p:sp>
      <p:sp>
        <p:nvSpPr>
          <p:cNvPr id="29" name="Shape 27"/>
          <p:cNvSpPr/>
          <p:nvPr/>
        </p:nvSpPr>
        <p:spPr>
          <a:xfrm>
            <a:off x="292608" y="3721608"/>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0" name="Shape 28"/>
          <p:cNvSpPr/>
          <p:nvPr/>
        </p:nvSpPr>
        <p:spPr>
          <a:xfrm>
            <a:off x="320040" y="3758184"/>
            <a:ext cx="1691640" cy="384048"/>
          </a:xfrm>
          <a:prstGeom prst="roundRect">
            <a:avLst>
              <a:gd name="adj" fmla="val 11905"/>
            </a:avLst>
          </a:prstGeom>
          <a:solidFill>
            <a:srgbClr val="0A5C7F"/>
          </a:solidFill>
          <a:ln w="12700">
            <a:solidFill>
              <a:srgbClr val="0A5C7F"/>
            </a:solidFill>
            <a:prstDash val="solid"/>
          </a:ln>
        </p:spPr>
      </p:sp>
      <p:sp>
        <p:nvSpPr>
          <p:cNvPr id="31" name="Text 29"/>
          <p:cNvSpPr/>
          <p:nvPr/>
        </p:nvSpPr>
        <p:spPr>
          <a:xfrm>
            <a:off x="320040" y="3758184"/>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Hosting</a:t>
            </a:r>
            <a:endParaRPr lang="en-US" sz="1000" dirty="0"/>
          </a:p>
        </p:txBody>
      </p:sp>
      <p:sp>
        <p:nvSpPr>
          <p:cNvPr id="32" name="Text 30"/>
          <p:cNvSpPr/>
          <p:nvPr/>
        </p:nvSpPr>
        <p:spPr>
          <a:xfrm>
            <a:off x="2103120" y="3794760"/>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EC2 + Nginx + PM2</a:t>
            </a:r>
            <a:endParaRPr lang="en-US" sz="1200" dirty="0"/>
          </a:p>
        </p:txBody>
      </p:sp>
      <p:sp>
        <p:nvSpPr>
          <p:cNvPr id="33" name="Text 31"/>
          <p:cNvSpPr/>
          <p:nvPr/>
        </p:nvSpPr>
        <p:spPr>
          <a:xfrm>
            <a:off x="4846320" y="3794760"/>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EC2 runs Node.js. Nginx reverse proxy. PM2 keeps app alive after crashes or reboots.</a:t>
            </a:r>
            <a:endParaRPr lang="en-US" sz="1050" dirty="0"/>
          </a:p>
        </p:txBody>
      </p:sp>
      <p:sp>
        <p:nvSpPr>
          <p:cNvPr id="34" name="Shape 32"/>
          <p:cNvSpPr/>
          <p:nvPr/>
        </p:nvSpPr>
        <p:spPr>
          <a:xfrm>
            <a:off x="292608" y="4242816"/>
            <a:ext cx="8558784" cy="457200"/>
          </a:xfrm>
          <a:prstGeom prst="roundRect">
            <a:avLst>
              <a:gd name="adj" fmla="val 1600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5" name="Shape 33"/>
          <p:cNvSpPr/>
          <p:nvPr/>
        </p:nvSpPr>
        <p:spPr>
          <a:xfrm>
            <a:off x="320040" y="4279392"/>
            <a:ext cx="1691640" cy="384048"/>
          </a:xfrm>
          <a:prstGeom prst="roundRect">
            <a:avLst>
              <a:gd name="adj" fmla="val 11905"/>
            </a:avLst>
          </a:prstGeom>
          <a:solidFill>
            <a:srgbClr val="16A34A"/>
          </a:solidFill>
          <a:ln w="12700">
            <a:solidFill>
              <a:srgbClr val="16A34A"/>
            </a:solidFill>
            <a:prstDash val="solid"/>
          </a:ln>
        </p:spPr>
      </p:sp>
      <p:sp>
        <p:nvSpPr>
          <p:cNvPr id="36" name="Text 34"/>
          <p:cNvSpPr/>
          <p:nvPr/>
        </p:nvSpPr>
        <p:spPr>
          <a:xfrm>
            <a:off x="320040" y="4279392"/>
            <a:ext cx="1691640" cy="38404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CI/CD</a:t>
            </a:r>
            <a:endParaRPr lang="en-US" sz="1000" dirty="0"/>
          </a:p>
        </p:txBody>
      </p:sp>
      <p:sp>
        <p:nvSpPr>
          <p:cNvPr id="37" name="Text 35"/>
          <p:cNvSpPr/>
          <p:nvPr/>
        </p:nvSpPr>
        <p:spPr>
          <a:xfrm>
            <a:off x="2103120" y="4315968"/>
            <a:ext cx="2651760" cy="310896"/>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GitHub Actions</a:t>
            </a:r>
            <a:endParaRPr lang="en-US" sz="1200" dirty="0"/>
          </a:p>
        </p:txBody>
      </p:sp>
      <p:sp>
        <p:nvSpPr>
          <p:cNvPr id="38" name="Text 36"/>
          <p:cNvSpPr/>
          <p:nvPr/>
        </p:nvSpPr>
        <p:spPr>
          <a:xfrm>
            <a:off x="4846320" y="4315968"/>
            <a:ext cx="3913632" cy="310896"/>
          </a:xfrm>
          <a:prstGeom prst="rect">
            <a:avLst/>
          </a:prstGeom>
          <a:noFill/>
          <a:ln/>
        </p:spPr>
        <p:txBody>
          <a:bodyPr wrap="square" lIns="0" tIns="0" rIns="0" bIns="0" rtlCol="0" anchor="ctr"/>
          <a:lstStyle/>
          <a:p>
            <a:pPr marL="0" indent="0" algn="l">
              <a:buNone/>
            </a:pPr>
            <a:r>
              <a:rPr lang="en-US" sz="1050" dirty="0">
                <a:solidFill>
                  <a:srgbClr val="CBD5E1"/>
                </a:solidFill>
                <a:latin typeface="Calibri" pitchFamily="34" charset="0"/>
                <a:ea typeface="Calibri" pitchFamily="34" charset="-122"/>
                <a:cs typeface="Calibri" pitchFamily="34" charset="-120"/>
              </a:rPr>
              <a:t>Auto-deploys to EC2 on every push. Zero manual deployments. Completed in 51 seconds.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System Architecture</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CloudFront CDN → EC2 → S3 + PostgreSQL RDS</a:t>
            </a:r>
            <a:endParaRPr lang="en-US" sz="1200" dirty="0"/>
          </a:p>
        </p:txBody>
      </p:sp>
      <p:sp>
        <p:nvSpPr>
          <p:cNvPr id="4" name="Shape 2"/>
          <p:cNvSpPr/>
          <p:nvPr/>
        </p:nvSpPr>
        <p:spPr>
          <a:xfrm>
            <a:off x="182880" y="1261872"/>
            <a:ext cx="1847088" cy="1371600"/>
          </a:xfrm>
          <a:prstGeom prst="roundRect">
            <a:avLst>
              <a:gd name="adj" fmla="val 533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Text 3"/>
          <p:cNvSpPr/>
          <p:nvPr/>
        </p:nvSpPr>
        <p:spPr>
          <a:xfrm>
            <a:off x="182880" y="1316736"/>
            <a:ext cx="1847088"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User</a:t>
            </a:r>
            <a:endParaRPr lang="en-US" sz="1150" dirty="0"/>
          </a:p>
          <a:p>
            <a:pPr marL="0" indent="0" algn="ctr">
              <a:buNone/>
            </a:pPr>
            <a:r>
              <a:rPr lang="en-US" sz="1150" b="1" dirty="0">
                <a:solidFill>
                  <a:srgbClr val="FFFFFF"/>
                </a:solidFill>
                <a:latin typeface="Cambria" pitchFamily="34" charset="0"/>
                <a:ea typeface="Cambria" pitchFamily="34" charset="-122"/>
                <a:cs typeface="Cambria" pitchFamily="34" charset="-120"/>
              </a:rPr>
              <a:t>Browser</a:t>
            </a:r>
            <a:endParaRPr lang="en-US" sz="1150" dirty="0"/>
          </a:p>
        </p:txBody>
      </p:sp>
      <p:sp>
        <p:nvSpPr>
          <p:cNvPr id="6" name="Shape 4"/>
          <p:cNvSpPr/>
          <p:nvPr/>
        </p:nvSpPr>
        <p:spPr>
          <a:xfrm>
            <a:off x="329184" y="2011680"/>
            <a:ext cx="1554480" cy="310896"/>
          </a:xfrm>
          <a:prstGeom prst="roundRect">
            <a:avLst>
              <a:gd name="adj" fmla="val 14706"/>
            </a:avLst>
          </a:prstGeom>
          <a:solidFill>
            <a:srgbClr val="0D9488"/>
          </a:solidFill>
          <a:ln w="12700">
            <a:solidFill>
              <a:srgbClr val="0D9488"/>
            </a:solidFill>
            <a:prstDash val="solid"/>
          </a:ln>
        </p:spPr>
      </p:sp>
      <p:sp>
        <p:nvSpPr>
          <p:cNvPr id="7" name="Text 5"/>
          <p:cNvSpPr/>
          <p:nvPr/>
        </p:nvSpPr>
        <p:spPr>
          <a:xfrm>
            <a:off x="329184" y="2011680"/>
            <a:ext cx="155448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Any Device</a:t>
            </a:r>
            <a:endParaRPr lang="en-US" sz="850" dirty="0"/>
          </a:p>
        </p:txBody>
      </p:sp>
      <p:sp>
        <p:nvSpPr>
          <p:cNvPr id="8" name="Shape 6"/>
          <p:cNvSpPr/>
          <p:nvPr/>
        </p:nvSpPr>
        <p:spPr>
          <a:xfrm>
            <a:off x="2176272" y="1261872"/>
            <a:ext cx="1847088" cy="1371600"/>
          </a:xfrm>
          <a:prstGeom prst="roundRect">
            <a:avLst>
              <a:gd name="adj" fmla="val 533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9" name="Text 7"/>
          <p:cNvSpPr/>
          <p:nvPr/>
        </p:nvSpPr>
        <p:spPr>
          <a:xfrm>
            <a:off x="2176272" y="1316736"/>
            <a:ext cx="1847088"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CloudFront</a:t>
            </a:r>
            <a:endParaRPr lang="en-US" sz="1150" dirty="0"/>
          </a:p>
          <a:p>
            <a:pPr marL="0" indent="0" algn="ctr">
              <a:buNone/>
            </a:pPr>
            <a:r>
              <a:rPr lang="en-US" sz="1150" b="1" dirty="0">
                <a:solidFill>
                  <a:srgbClr val="FFFFFF"/>
                </a:solidFill>
                <a:latin typeface="Cambria" pitchFamily="34" charset="0"/>
                <a:ea typeface="Cambria" pitchFamily="34" charset="-122"/>
                <a:cs typeface="Cambria" pitchFamily="34" charset="-120"/>
              </a:rPr>
              <a:t>+ WAF</a:t>
            </a:r>
            <a:endParaRPr lang="en-US" sz="1150" dirty="0"/>
          </a:p>
        </p:txBody>
      </p:sp>
      <p:sp>
        <p:nvSpPr>
          <p:cNvPr id="10" name="Shape 8"/>
          <p:cNvSpPr/>
          <p:nvPr/>
        </p:nvSpPr>
        <p:spPr>
          <a:xfrm>
            <a:off x="2322576" y="2011680"/>
            <a:ext cx="1554480" cy="310896"/>
          </a:xfrm>
          <a:prstGeom prst="roundRect">
            <a:avLst>
              <a:gd name="adj" fmla="val 14706"/>
            </a:avLst>
          </a:prstGeom>
          <a:solidFill>
            <a:srgbClr val="7C3AED"/>
          </a:solidFill>
          <a:ln w="12700">
            <a:solidFill>
              <a:srgbClr val="7C3AED"/>
            </a:solidFill>
            <a:prstDash val="solid"/>
          </a:ln>
        </p:spPr>
      </p:sp>
      <p:sp>
        <p:nvSpPr>
          <p:cNvPr id="11" name="Text 9"/>
          <p:cNvSpPr/>
          <p:nvPr/>
        </p:nvSpPr>
        <p:spPr>
          <a:xfrm>
            <a:off x="2322576" y="2011680"/>
            <a:ext cx="155448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HTTPS + Security</a:t>
            </a:r>
            <a:endParaRPr lang="en-US" sz="850" dirty="0"/>
          </a:p>
        </p:txBody>
      </p:sp>
      <p:sp>
        <p:nvSpPr>
          <p:cNvPr id="12" name="Shape 10"/>
          <p:cNvSpPr/>
          <p:nvPr/>
        </p:nvSpPr>
        <p:spPr>
          <a:xfrm>
            <a:off x="4169664" y="1261872"/>
            <a:ext cx="1847088" cy="1371600"/>
          </a:xfrm>
          <a:prstGeom prst="roundRect">
            <a:avLst>
              <a:gd name="adj" fmla="val 533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3" name="Text 11"/>
          <p:cNvSpPr/>
          <p:nvPr/>
        </p:nvSpPr>
        <p:spPr>
          <a:xfrm>
            <a:off x="4169664" y="1316736"/>
            <a:ext cx="1847088"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EC2</a:t>
            </a:r>
            <a:endParaRPr lang="en-US" sz="1150" dirty="0"/>
          </a:p>
          <a:p>
            <a:pPr marL="0" indent="0" algn="ctr">
              <a:buNone/>
            </a:pPr>
            <a:r>
              <a:rPr lang="en-US" sz="1150" b="1" dirty="0">
                <a:solidFill>
                  <a:srgbClr val="FFFFFF"/>
                </a:solidFill>
                <a:latin typeface="Cambria" pitchFamily="34" charset="0"/>
                <a:ea typeface="Cambria" pitchFamily="34" charset="-122"/>
                <a:cs typeface="Cambria" pitchFamily="34" charset="-120"/>
              </a:rPr>
              <a:t>+ Nginx</a:t>
            </a:r>
            <a:endParaRPr lang="en-US" sz="1150" dirty="0"/>
          </a:p>
        </p:txBody>
      </p:sp>
      <p:sp>
        <p:nvSpPr>
          <p:cNvPr id="14" name="Shape 12"/>
          <p:cNvSpPr/>
          <p:nvPr/>
        </p:nvSpPr>
        <p:spPr>
          <a:xfrm>
            <a:off x="4315968" y="2011680"/>
            <a:ext cx="1554480" cy="310896"/>
          </a:xfrm>
          <a:prstGeom prst="roundRect">
            <a:avLst>
              <a:gd name="adj" fmla="val 14706"/>
            </a:avLst>
          </a:prstGeom>
          <a:solidFill>
            <a:srgbClr val="065A82"/>
          </a:solidFill>
          <a:ln w="12700">
            <a:solidFill>
              <a:srgbClr val="065A82"/>
            </a:solidFill>
            <a:prstDash val="solid"/>
          </a:ln>
        </p:spPr>
      </p:sp>
      <p:sp>
        <p:nvSpPr>
          <p:cNvPr id="15" name="Text 13"/>
          <p:cNvSpPr/>
          <p:nvPr/>
        </p:nvSpPr>
        <p:spPr>
          <a:xfrm>
            <a:off x="4315968" y="2011680"/>
            <a:ext cx="155448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Node.js + Express</a:t>
            </a:r>
            <a:endParaRPr lang="en-US" sz="850" dirty="0"/>
          </a:p>
        </p:txBody>
      </p:sp>
      <p:sp>
        <p:nvSpPr>
          <p:cNvPr id="16" name="Shape 14"/>
          <p:cNvSpPr/>
          <p:nvPr/>
        </p:nvSpPr>
        <p:spPr>
          <a:xfrm>
            <a:off x="6163056" y="1261872"/>
            <a:ext cx="1847088" cy="1371600"/>
          </a:xfrm>
          <a:prstGeom prst="roundRect">
            <a:avLst>
              <a:gd name="adj" fmla="val 533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Text 15"/>
          <p:cNvSpPr/>
          <p:nvPr/>
        </p:nvSpPr>
        <p:spPr>
          <a:xfrm>
            <a:off x="6163056" y="1316736"/>
            <a:ext cx="1847088"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Amazon</a:t>
            </a:r>
            <a:endParaRPr lang="en-US" sz="1150" dirty="0"/>
          </a:p>
          <a:p>
            <a:pPr marL="0" indent="0" algn="ctr">
              <a:buNone/>
            </a:pPr>
            <a:r>
              <a:rPr lang="en-US" sz="1150" b="1" dirty="0">
                <a:solidFill>
                  <a:srgbClr val="FFFFFF"/>
                </a:solidFill>
                <a:latin typeface="Cambria" pitchFamily="34" charset="0"/>
                <a:ea typeface="Cambria" pitchFamily="34" charset="-122"/>
                <a:cs typeface="Cambria" pitchFamily="34" charset="-120"/>
              </a:rPr>
              <a:t>S3</a:t>
            </a:r>
            <a:endParaRPr lang="en-US" sz="1150" dirty="0"/>
          </a:p>
        </p:txBody>
      </p:sp>
      <p:sp>
        <p:nvSpPr>
          <p:cNvPr id="18" name="Shape 16"/>
          <p:cNvSpPr/>
          <p:nvPr/>
        </p:nvSpPr>
        <p:spPr>
          <a:xfrm>
            <a:off x="6309360" y="2011680"/>
            <a:ext cx="1554480" cy="310896"/>
          </a:xfrm>
          <a:prstGeom prst="roundRect">
            <a:avLst>
              <a:gd name="adj" fmla="val 14706"/>
            </a:avLst>
          </a:prstGeom>
          <a:solidFill>
            <a:srgbClr val="0891B2"/>
          </a:solidFill>
          <a:ln w="12700">
            <a:solidFill>
              <a:srgbClr val="0891B2"/>
            </a:solidFill>
            <a:prstDash val="solid"/>
          </a:ln>
        </p:spPr>
      </p:sp>
      <p:sp>
        <p:nvSpPr>
          <p:cNvPr id="19" name="Text 17"/>
          <p:cNvSpPr/>
          <p:nvPr/>
        </p:nvSpPr>
        <p:spPr>
          <a:xfrm>
            <a:off x="6309360" y="2011680"/>
            <a:ext cx="155448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File Storage</a:t>
            </a:r>
            <a:endParaRPr lang="en-US" sz="850" dirty="0"/>
          </a:p>
        </p:txBody>
      </p:sp>
      <p:sp>
        <p:nvSpPr>
          <p:cNvPr id="20" name="Shape 18"/>
          <p:cNvSpPr/>
          <p:nvPr/>
        </p:nvSpPr>
        <p:spPr>
          <a:xfrm>
            <a:off x="8156448" y="1261872"/>
            <a:ext cx="1847088" cy="1371600"/>
          </a:xfrm>
          <a:prstGeom prst="roundRect">
            <a:avLst>
              <a:gd name="adj" fmla="val 533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1" name="Text 19"/>
          <p:cNvSpPr/>
          <p:nvPr/>
        </p:nvSpPr>
        <p:spPr>
          <a:xfrm>
            <a:off x="8156448" y="1316736"/>
            <a:ext cx="1847088" cy="658368"/>
          </a:xfrm>
          <a:prstGeom prst="rect">
            <a:avLst/>
          </a:prstGeom>
          <a:noFill/>
          <a:ln/>
        </p:spPr>
        <p:txBody>
          <a:bodyPr wrap="square" lIns="0" tIns="0" rIns="0" bIns="0" rtlCol="0" anchor="ctr"/>
          <a:lstStyle/>
          <a:p>
            <a:pPr marL="0" indent="0" algn="ctr">
              <a:buNone/>
            </a:pPr>
            <a:r>
              <a:rPr lang="en-US" sz="1150" b="1" dirty="0">
                <a:solidFill>
                  <a:srgbClr val="FFFFFF"/>
                </a:solidFill>
                <a:latin typeface="Cambria" pitchFamily="34" charset="0"/>
                <a:ea typeface="Cambria" pitchFamily="34" charset="-122"/>
                <a:cs typeface="Cambria" pitchFamily="34" charset="-120"/>
              </a:rPr>
              <a:t>PostgreSQL</a:t>
            </a:r>
            <a:endParaRPr lang="en-US" sz="1150" dirty="0"/>
          </a:p>
          <a:p>
            <a:pPr marL="0" indent="0" algn="ctr">
              <a:buNone/>
            </a:pPr>
            <a:r>
              <a:rPr lang="en-US" sz="1150" b="1" dirty="0">
                <a:solidFill>
                  <a:srgbClr val="FFFFFF"/>
                </a:solidFill>
                <a:latin typeface="Cambria" pitchFamily="34" charset="0"/>
                <a:ea typeface="Cambria" pitchFamily="34" charset="-122"/>
                <a:cs typeface="Cambria" pitchFamily="34" charset="-120"/>
              </a:rPr>
              <a:t>RDS</a:t>
            </a:r>
            <a:endParaRPr lang="en-US" sz="1150" dirty="0"/>
          </a:p>
        </p:txBody>
      </p:sp>
      <p:sp>
        <p:nvSpPr>
          <p:cNvPr id="22" name="Shape 20"/>
          <p:cNvSpPr/>
          <p:nvPr/>
        </p:nvSpPr>
        <p:spPr>
          <a:xfrm>
            <a:off x="8302752" y="2011680"/>
            <a:ext cx="1554480" cy="310896"/>
          </a:xfrm>
          <a:prstGeom prst="roundRect">
            <a:avLst>
              <a:gd name="adj" fmla="val 14706"/>
            </a:avLst>
          </a:prstGeom>
          <a:solidFill>
            <a:srgbClr val="16A34A"/>
          </a:solidFill>
          <a:ln w="12700">
            <a:solidFill>
              <a:srgbClr val="16A34A"/>
            </a:solidFill>
            <a:prstDash val="solid"/>
          </a:ln>
        </p:spPr>
      </p:sp>
      <p:sp>
        <p:nvSpPr>
          <p:cNvPr id="23" name="Text 21"/>
          <p:cNvSpPr/>
          <p:nvPr/>
        </p:nvSpPr>
        <p:spPr>
          <a:xfrm>
            <a:off x="8302752" y="2011680"/>
            <a:ext cx="1554480" cy="310896"/>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Metadata DB</a:t>
            </a:r>
            <a:endParaRPr lang="en-US" sz="850" dirty="0"/>
          </a:p>
        </p:txBody>
      </p:sp>
      <p:sp>
        <p:nvSpPr>
          <p:cNvPr id="24" name="Shape 22"/>
          <p:cNvSpPr/>
          <p:nvPr/>
        </p:nvSpPr>
        <p:spPr>
          <a:xfrm>
            <a:off x="2029968" y="1719072"/>
            <a:ext cx="146304" cy="0"/>
          </a:xfrm>
          <a:prstGeom prst="line">
            <a:avLst/>
          </a:prstGeom>
          <a:noFill/>
          <a:ln w="19050">
            <a:solidFill>
              <a:srgbClr val="5EEAD4"/>
            </a:solidFill>
            <a:prstDash val="dash"/>
          </a:ln>
        </p:spPr>
      </p:sp>
      <p:sp>
        <p:nvSpPr>
          <p:cNvPr id="25" name="Shape 23"/>
          <p:cNvSpPr/>
          <p:nvPr/>
        </p:nvSpPr>
        <p:spPr>
          <a:xfrm>
            <a:off x="2103120" y="1659636"/>
            <a:ext cx="118872" cy="118872"/>
          </a:xfrm>
          <a:prstGeom prst="ellipse">
            <a:avLst/>
          </a:prstGeom>
          <a:solidFill>
            <a:srgbClr val="5EEAD4"/>
          </a:solidFill>
          <a:ln w="12700">
            <a:solidFill>
              <a:srgbClr val="5EEAD4"/>
            </a:solidFill>
            <a:prstDash val="solid"/>
          </a:ln>
        </p:spPr>
      </p:sp>
      <p:sp>
        <p:nvSpPr>
          <p:cNvPr id="26" name="Shape 24"/>
          <p:cNvSpPr/>
          <p:nvPr/>
        </p:nvSpPr>
        <p:spPr>
          <a:xfrm>
            <a:off x="4023360" y="1719072"/>
            <a:ext cx="146304" cy="0"/>
          </a:xfrm>
          <a:prstGeom prst="line">
            <a:avLst/>
          </a:prstGeom>
          <a:noFill/>
          <a:ln w="19050">
            <a:solidFill>
              <a:srgbClr val="5EEAD4"/>
            </a:solidFill>
            <a:prstDash val="dash"/>
          </a:ln>
        </p:spPr>
      </p:sp>
      <p:sp>
        <p:nvSpPr>
          <p:cNvPr id="27" name="Shape 25"/>
          <p:cNvSpPr/>
          <p:nvPr/>
        </p:nvSpPr>
        <p:spPr>
          <a:xfrm>
            <a:off x="4096512" y="1659636"/>
            <a:ext cx="118872" cy="118872"/>
          </a:xfrm>
          <a:prstGeom prst="ellipse">
            <a:avLst/>
          </a:prstGeom>
          <a:solidFill>
            <a:srgbClr val="5EEAD4"/>
          </a:solidFill>
          <a:ln w="12700">
            <a:solidFill>
              <a:srgbClr val="5EEAD4"/>
            </a:solidFill>
            <a:prstDash val="solid"/>
          </a:ln>
        </p:spPr>
      </p:sp>
      <p:sp>
        <p:nvSpPr>
          <p:cNvPr id="28" name="Shape 26"/>
          <p:cNvSpPr/>
          <p:nvPr/>
        </p:nvSpPr>
        <p:spPr>
          <a:xfrm>
            <a:off x="6016752" y="1719072"/>
            <a:ext cx="146304" cy="0"/>
          </a:xfrm>
          <a:prstGeom prst="line">
            <a:avLst/>
          </a:prstGeom>
          <a:noFill/>
          <a:ln w="19050">
            <a:solidFill>
              <a:srgbClr val="5EEAD4"/>
            </a:solidFill>
            <a:prstDash val="dash"/>
          </a:ln>
        </p:spPr>
      </p:sp>
      <p:sp>
        <p:nvSpPr>
          <p:cNvPr id="29" name="Shape 27"/>
          <p:cNvSpPr/>
          <p:nvPr/>
        </p:nvSpPr>
        <p:spPr>
          <a:xfrm>
            <a:off x="6089904" y="1659636"/>
            <a:ext cx="118872" cy="118872"/>
          </a:xfrm>
          <a:prstGeom prst="ellipse">
            <a:avLst/>
          </a:prstGeom>
          <a:solidFill>
            <a:srgbClr val="5EEAD4"/>
          </a:solidFill>
          <a:ln w="12700">
            <a:solidFill>
              <a:srgbClr val="5EEAD4"/>
            </a:solidFill>
            <a:prstDash val="solid"/>
          </a:ln>
        </p:spPr>
      </p:sp>
      <p:sp>
        <p:nvSpPr>
          <p:cNvPr id="30" name="Shape 28"/>
          <p:cNvSpPr/>
          <p:nvPr/>
        </p:nvSpPr>
        <p:spPr>
          <a:xfrm>
            <a:off x="8010144" y="1719072"/>
            <a:ext cx="146304" cy="0"/>
          </a:xfrm>
          <a:prstGeom prst="line">
            <a:avLst/>
          </a:prstGeom>
          <a:noFill/>
          <a:ln w="19050">
            <a:solidFill>
              <a:srgbClr val="5EEAD4"/>
            </a:solidFill>
            <a:prstDash val="dash"/>
          </a:ln>
        </p:spPr>
      </p:sp>
      <p:sp>
        <p:nvSpPr>
          <p:cNvPr id="31" name="Shape 29"/>
          <p:cNvSpPr/>
          <p:nvPr/>
        </p:nvSpPr>
        <p:spPr>
          <a:xfrm>
            <a:off x="8083296" y="1659636"/>
            <a:ext cx="118872" cy="118872"/>
          </a:xfrm>
          <a:prstGeom prst="ellipse">
            <a:avLst/>
          </a:prstGeom>
          <a:solidFill>
            <a:srgbClr val="5EEAD4"/>
          </a:solidFill>
          <a:ln w="12700">
            <a:solidFill>
              <a:srgbClr val="5EEAD4"/>
            </a:solidFill>
            <a:prstDash val="solid"/>
          </a:ln>
        </p:spPr>
      </p:sp>
      <p:sp>
        <p:nvSpPr>
          <p:cNvPr id="32" name="Text 30"/>
          <p:cNvSpPr/>
          <p:nvPr/>
        </p:nvSpPr>
        <p:spPr>
          <a:xfrm>
            <a:off x="2029968" y="1463040"/>
            <a:ext cx="420624" cy="201168"/>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HTTPS</a:t>
            </a:r>
            <a:endParaRPr lang="en-US" sz="750" dirty="0"/>
          </a:p>
        </p:txBody>
      </p:sp>
      <p:sp>
        <p:nvSpPr>
          <p:cNvPr id="33" name="Text 31"/>
          <p:cNvSpPr/>
          <p:nvPr/>
        </p:nvSpPr>
        <p:spPr>
          <a:xfrm>
            <a:off x="4023360" y="1463040"/>
            <a:ext cx="420624" cy="201168"/>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HTTP/80</a:t>
            </a:r>
            <a:endParaRPr lang="en-US" sz="750" dirty="0"/>
          </a:p>
        </p:txBody>
      </p:sp>
      <p:sp>
        <p:nvSpPr>
          <p:cNvPr id="34" name="Text 32"/>
          <p:cNvSpPr/>
          <p:nvPr/>
        </p:nvSpPr>
        <p:spPr>
          <a:xfrm>
            <a:off x="6016752" y="1463040"/>
            <a:ext cx="420624" cy="201168"/>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Upload</a:t>
            </a:r>
            <a:endParaRPr lang="en-US" sz="750" dirty="0"/>
          </a:p>
        </p:txBody>
      </p:sp>
      <p:sp>
        <p:nvSpPr>
          <p:cNvPr id="35" name="Text 33"/>
          <p:cNvSpPr/>
          <p:nvPr/>
        </p:nvSpPr>
        <p:spPr>
          <a:xfrm>
            <a:off x="8010144" y="1463040"/>
            <a:ext cx="420624" cy="201168"/>
          </a:xfrm>
          <a:prstGeom prst="rect">
            <a:avLst/>
          </a:prstGeom>
          <a:noFill/>
          <a:ln/>
        </p:spPr>
        <p:txBody>
          <a:bodyPr wrap="square" lIns="0" tIns="0" rIns="0" bIns="0" rtlCol="0" anchor="ctr"/>
          <a:lstStyle/>
          <a:p>
            <a:pPr marL="0" indent="0" algn="ctr">
              <a:buNone/>
            </a:pPr>
            <a:r>
              <a:rPr lang="en-US" sz="750" dirty="0">
                <a:solidFill>
                  <a:srgbClr val="0D9488"/>
                </a:solidFill>
                <a:latin typeface="Calibri" pitchFamily="34" charset="0"/>
                <a:ea typeface="Calibri" pitchFamily="34" charset="-122"/>
                <a:cs typeface="Calibri" pitchFamily="34" charset="-120"/>
              </a:rPr>
              <a:t>Query</a:t>
            </a:r>
            <a:endParaRPr lang="en-US" sz="750" dirty="0"/>
          </a:p>
        </p:txBody>
      </p:sp>
      <p:sp>
        <p:nvSpPr>
          <p:cNvPr id="36" name="Shape 34"/>
          <p:cNvSpPr/>
          <p:nvPr/>
        </p:nvSpPr>
        <p:spPr>
          <a:xfrm>
            <a:off x="320040" y="2944368"/>
            <a:ext cx="118872" cy="118872"/>
          </a:xfrm>
          <a:prstGeom prst="ellipse">
            <a:avLst/>
          </a:prstGeom>
          <a:solidFill>
            <a:srgbClr val="0D9488"/>
          </a:solidFill>
          <a:ln w="12700">
            <a:solidFill>
              <a:srgbClr val="0D9488"/>
            </a:solidFill>
            <a:prstDash val="solid"/>
          </a:ln>
        </p:spPr>
      </p:sp>
      <p:sp>
        <p:nvSpPr>
          <p:cNvPr id="37" name="Text 35"/>
          <p:cNvSpPr/>
          <p:nvPr/>
        </p:nvSpPr>
        <p:spPr>
          <a:xfrm>
            <a:off x="530352" y="2852928"/>
            <a:ext cx="1417320" cy="274320"/>
          </a:xfrm>
          <a:prstGeom prst="rect">
            <a:avLst/>
          </a:prstGeom>
          <a:noFill/>
          <a:ln/>
        </p:spPr>
        <p:txBody>
          <a:bodyPr wrap="square" lIns="0" tIns="0" rIns="0" bIns="0" rtlCol="0" anchor="ctr"/>
          <a:lstStyle/>
          <a:p>
            <a:pPr marL="0" indent="0" algn="l">
              <a:buNone/>
            </a:pPr>
            <a:r>
              <a:rPr lang="en-US" sz="1000" b="1" dirty="0">
                <a:solidFill>
                  <a:srgbClr val="5EEAD4"/>
                </a:solidFill>
                <a:latin typeface="Calibri" pitchFamily="34" charset="0"/>
                <a:ea typeface="Calibri" pitchFamily="34" charset="-122"/>
                <a:cs typeface="Calibri" pitchFamily="34" charset="-120"/>
              </a:rPr>
              <a:t>Upload Flow: </a:t>
            </a:r>
            <a:endParaRPr lang="en-US" sz="1000" dirty="0"/>
          </a:p>
        </p:txBody>
      </p:sp>
      <p:sp>
        <p:nvSpPr>
          <p:cNvPr id="38" name="Text 36"/>
          <p:cNvSpPr/>
          <p:nvPr/>
        </p:nvSpPr>
        <p:spPr>
          <a:xfrm>
            <a:off x="1965960" y="2852928"/>
            <a:ext cx="6858000" cy="27432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Browser → CloudFront (HTTPS) → Nginx (Port 80) → Node.js → Multer-S3 streams file → S3. Metadata → PostgreSQL</a:t>
            </a:r>
            <a:endParaRPr lang="en-US" sz="950" dirty="0"/>
          </a:p>
        </p:txBody>
      </p:sp>
      <p:sp>
        <p:nvSpPr>
          <p:cNvPr id="39" name="Shape 37"/>
          <p:cNvSpPr/>
          <p:nvPr/>
        </p:nvSpPr>
        <p:spPr>
          <a:xfrm>
            <a:off x="320040" y="3447288"/>
            <a:ext cx="118872" cy="118872"/>
          </a:xfrm>
          <a:prstGeom prst="ellipse">
            <a:avLst/>
          </a:prstGeom>
          <a:solidFill>
            <a:srgbClr val="0D9488"/>
          </a:solidFill>
          <a:ln w="12700">
            <a:solidFill>
              <a:srgbClr val="0D9488"/>
            </a:solidFill>
            <a:prstDash val="solid"/>
          </a:ln>
        </p:spPr>
      </p:sp>
      <p:sp>
        <p:nvSpPr>
          <p:cNvPr id="40" name="Text 38"/>
          <p:cNvSpPr/>
          <p:nvPr/>
        </p:nvSpPr>
        <p:spPr>
          <a:xfrm>
            <a:off x="530352" y="3355848"/>
            <a:ext cx="1417320" cy="274320"/>
          </a:xfrm>
          <a:prstGeom prst="rect">
            <a:avLst/>
          </a:prstGeom>
          <a:noFill/>
          <a:ln/>
        </p:spPr>
        <p:txBody>
          <a:bodyPr wrap="square" lIns="0" tIns="0" rIns="0" bIns="0" rtlCol="0" anchor="ctr"/>
          <a:lstStyle/>
          <a:p>
            <a:pPr marL="0" indent="0" algn="l">
              <a:buNone/>
            </a:pPr>
            <a:r>
              <a:rPr lang="en-US" sz="1000" b="1" dirty="0">
                <a:solidFill>
                  <a:srgbClr val="5EEAD4"/>
                </a:solidFill>
                <a:latin typeface="Calibri" pitchFamily="34" charset="0"/>
                <a:ea typeface="Calibri" pitchFamily="34" charset="-122"/>
                <a:cs typeface="Calibri" pitchFamily="34" charset="-120"/>
              </a:rPr>
              <a:t>View Files: </a:t>
            </a:r>
            <a:endParaRPr lang="en-US" sz="1000" dirty="0"/>
          </a:p>
        </p:txBody>
      </p:sp>
      <p:sp>
        <p:nvSpPr>
          <p:cNvPr id="41" name="Text 39"/>
          <p:cNvSpPr/>
          <p:nvPr/>
        </p:nvSpPr>
        <p:spPr>
          <a:xfrm>
            <a:off x="1965960" y="3355848"/>
            <a:ext cx="6858000" cy="27432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React calls GET /api/files → Node.js queries PostgreSQL → Background S3 sync runs → File list returned to browser</a:t>
            </a:r>
            <a:endParaRPr lang="en-US" sz="950" dirty="0"/>
          </a:p>
        </p:txBody>
      </p:sp>
      <p:sp>
        <p:nvSpPr>
          <p:cNvPr id="42" name="Shape 40"/>
          <p:cNvSpPr/>
          <p:nvPr/>
        </p:nvSpPr>
        <p:spPr>
          <a:xfrm>
            <a:off x="320040" y="3950208"/>
            <a:ext cx="118872" cy="118872"/>
          </a:xfrm>
          <a:prstGeom prst="ellipse">
            <a:avLst/>
          </a:prstGeom>
          <a:solidFill>
            <a:srgbClr val="0D9488"/>
          </a:solidFill>
          <a:ln w="12700">
            <a:solidFill>
              <a:srgbClr val="0D9488"/>
            </a:solidFill>
            <a:prstDash val="solid"/>
          </a:ln>
        </p:spPr>
      </p:sp>
      <p:sp>
        <p:nvSpPr>
          <p:cNvPr id="43" name="Text 41"/>
          <p:cNvSpPr/>
          <p:nvPr/>
        </p:nvSpPr>
        <p:spPr>
          <a:xfrm>
            <a:off x="530352" y="3858768"/>
            <a:ext cx="1417320" cy="274320"/>
          </a:xfrm>
          <a:prstGeom prst="rect">
            <a:avLst/>
          </a:prstGeom>
          <a:noFill/>
          <a:ln/>
        </p:spPr>
        <p:txBody>
          <a:bodyPr wrap="square" lIns="0" tIns="0" rIns="0" bIns="0" rtlCol="0" anchor="ctr"/>
          <a:lstStyle/>
          <a:p>
            <a:pPr marL="0" indent="0" algn="l">
              <a:buNone/>
            </a:pPr>
            <a:r>
              <a:rPr lang="en-US" sz="1000" b="1" dirty="0">
                <a:solidFill>
                  <a:srgbClr val="5EEAD4"/>
                </a:solidFill>
                <a:latin typeface="Calibri" pitchFamily="34" charset="0"/>
                <a:ea typeface="Calibri" pitchFamily="34" charset="-122"/>
                <a:cs typeface="Calibri" pitchFamily="34" charset="-120"/>
              </a:rPr>
              <a:t>Download Flow: </a:t>
            </a:r>
            <a:endParaRPr lang="en-US" sz="1000" dirty="0"/>
          </a:p>
        </p:txBody>
      </p:sp>
      <p:sp>
        <p:nvSpPr>
          <p:cNvPr id="44" name="Text 42"/>
          <p:cNvSpPr/>
          <p:nvPr/>
        </p:nvSpPr>
        <p:spPr>
          <a:xfrm>
            <a:off x="1965960" y="3858768"/>
            <a:ext cx="6858000" cy="27432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Node.js generates presigned S3 URL (1hr expiry) → Browser downloads directly from S3 — files never permanently public</a:t>
            </a:r>
            <a:endParaRPr lang="en-US" sz="950" dirty="0"/>
          </a:p>
        </p:txBody>
      </p:sp>
      <p:sp>
        <p:nvSpPr>
          <p:cNvPr id="45" name="Shape 43"/>
          <p:cNvSpPr/>
          <p:nvPr/>
        </p:nvSpPr>
        <p:spPr>
          <a:xfrm>
            <a:off x="320040" y="4453128"/>
            <a:ext cx="118872" cy="118872"/>
          </a:xfrm>
          <a:prstGeom prst="ellipse">
            <a:avLst/>
          </a:prstGeom>
          <a:solidFill>
            <a:srgbClr val="0D9488"/>
          </a:solidFill>
          <a:ln w="12700">
            <a:solidFill>
              <a:srgbClr val="0D9488"/>
            </a:solidFill>
            <a:prstDash val="solid"/>
          </a:ln>
        </p:spPr>
      </p:sp>
      <p:sp>
        <p:nvSpPr>
          <p:cNvPr id="46" name="Text 44"/>
          <p:cNvSpPr/>
          <p:nvPr/>
        </p:nvSpPr>
        <p:spPr>
          <a:xfrm>
            <a:off x="530352" y="4361688"/>
            <a:ext cx="1417320" cy="274320"/>
          </a:xfrm>
          <a:prstGeom prst="rect">
            <a:avLst/>
          </a:prstGeom>
          <a:noFill/>
          <a:ln/>
        </p:spPr>
        <p:txBody>
          <a:bodyPr wrap="square" lIns="0" tIns="0" rIns="0" bIns="0" rtlCol="0" anchor="ctr"/>
          <a:lstStyle/>
          <a:p>
            <a:pPr marL="0" indent="0" algn="l">
              <a:buNone/>
            </a:pPr>
            <a:r>
              <a:rPr lang="en-US" sz="1000" b="1" dirty="0">
                <a:solidFill>
                  <a:srgbClr val="5EEAD4"/>
                </a:solidFill>
                <a:latin typeface="Calibri" pitchFamily="34" charset="0"/>
                <a:ea typeface="Calibri" pitchFamily="34" charset="-122"/>
                <a:cs typeface="Calibri" pitchFamily="34" charset="-120"/>
              </a:rPr>
              <a:t>Delete Flow: </a:t>
            </a:r>
            <a:endParaRPr lang="en-US" sz="1000" dirty="0"/>
          </a:p>
        </p:txBody>
      </p:sp>
      <p:sp>
        <p:nvSpPr>
          <p:cNvPr id="47" name="Text 45"/>
          <p:cNvSpPr/>
          <p:nvPr/>
        </p:nvSpPr>
        <p:spPr>
          <a:xfrm>
            <a:off x="1965960" y="4361688"/>
            <a:ext cx="6858000" cy="27432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Node.js deletes from PostgreSQL first → Then deletes from S3 → Both always in sync. No orphaned records remain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Architecture Highlights</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Production-grade features built into CloudDrop</a:t>
            </a:r>
            <a:endParaRPr lang="en-US" sz="1200" dirty="0"/>
          </a:p>
        </p:txBody>
      </p:sp>
      <p:sp>
        <p:nvSpPr>
          <p:cNvPr id="4" name="Shape 2"/>
          <p:cNvSpPr/>
          <p:nvPr/>
        </p:nvSpPr>
        <p:spPr>
          <a:xfrm>
            <a:off x="292608" y="111556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Shape 3"/>
          <p:cNvSpPr/>
          <p:nvPr/>
        </p:nvSpPr>
        <p:spPr>
          <a:xfrm>
            <a:off x="420624" y="1243584"/>
            <a:ext cx="457200" cy="457200"/>
          </a:xfrm>
          <a:prstGeom prst="roundRect">
            <a:avLst>
              <a:gd name="adj" fmla="val 12000"/>
            </a:avLst>
          </a:prstGeom>
          <a:solidFill>
            <a:srgbClr val="0D9488"/>
          </a:solidFill>
          <a:ln w="12700">
            <a:solidFill>
              <a:srgbClr val="0D9488"/>
            </a:solidFill>
            <a:prstDash val="solid"/>
          </a:ln>
        </p:spPr>
      </p:sp>
      <p:sp>
        <p:nvSpPr>
          <p:cNvPr id="6" name="Text 4"/>
          <p:cNvSpPr/>
          <p:nvPr/>
        </p:nvSpPr>
        <p:spPr>
          <a:xfrm>
            <a:off x="420624" y="124358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7" name="Text 5"/>
          <p:cNvSpPr/>
          <p:nvPr/>
        </p:nvSpPr>
        <p:spPr>
          <a:xfrm>
            <a:off x="950976" y="1280160"/>
            <a:ext cx="347472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Graceful Fallback Mode</a:t>
            </a:r>
            <a:endParaRPr lang="en-US" sz="1200" dirty="0"/>
          </a:p>
        </p:txBody>
      </p:sp>
      <p:sp>
        <p:nvSpPr>
          <p:cNvPr id="8" name="Shape 6"/>
          <p:cNvSpPr/>
          <p:nvPr/>
        </p:nvSpPr>
        <p:spPr>
          <a:xfrm>
            <a:off x="493776" y="1746504"/>
            <a:ext cx="118872" cy="118872"/>
          </a:xfrm>
          <a:prstGeom prst="ellipse">
            <a:avLst/>
          </a:prstGeom>
          <a:solidFill>
            <a:srgbClr val="0D9488"/>
          </a:solidFill>
          <a:ln w="12700">
            <a:solidFill>
              <a:srgbClr val="0D9488"/>
            </a:solidFill>
            <a:prstDash val="solid"/>
          </a:ln>
        </p:spPr>
      </p:sp>
      <p:sp>
        <p:nvSpPr>
          <p:cNvPr id="9" name="Text 7"/>
          <p:cNvSpPr/>
          <p:nvPr/>
        </p:nvSpPr>
        <p:spPr>
          <a:xfrm>
            <a:off x="704088" y="168249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Full Mode: S3 + PostgreSQL working together</a:t>
            </a:r>
            <a:endParaRPr lang="en-US" sz="950" dirty="0"/>
          </a:p>
        </p:txBody>
      </p:sp>
      <p:sp>
        <p:nvSpPr>
          <p:cNvPr id="10" name="Shape 8"/>
          <p:cNvSpPr/>
          <p:nvPr/>
        </p:nvSpPr>
        <p:spPr>
          <a:xfrm>
            <a:off x="493776" y="2020824"/>
            <a:ext cx="118872" cy="118872"/>
          </a:xfrm>
          <a:prstGeom prst="ellipse">
            <a:avLst/>
          </a:prstGeom>
          <a:solidFill>
            <a:srgbClr val="0D9488"/>
          </a:solidFill>
          <a:ln w="12700">
            <a:solidFill>
              <a:srgbClr val="0D9488"/>
            </a:solidFill>
            <a:prstDash val="solid"/>
          </a:ln>
        </p:spPr>
      </p:sp>
      <p:sp>
        <p:nvSpPr>
          <p:cNvPr id="11" name="Text 9"/>
          <p:cNvSpPr/>
          <p:nvPr/>
        </p:nvSpPr>
        <p:spPr>
          <a:xfrm>
            <a:off x="704088" y="195681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S3-Only Mode: if DB is unreachable, app keeps serving files</a:t>
            </a:r>
            <a:endParaRPr lang="en-US" sz="950" dirty="0"/>
          </a:p>
        </p:txBody>
      </p:sp>
      <p:sp>
        <p:nvSpPr>
          <p:cNvPr id="12" name="Shape 10"/>
          <p:cNvSpPr/>
          <p:nvPr/>
        </p:nvSpPr>
        <p:spPr>
          <a:xfrm>
            <a:off x="493776" y="2295144"/>
            <a:ext cx="118872" cy="118872"/>
          </a:xfrm>
          <a:prstGeom prst="ellipse">
            <a:avLst/>
          </a:prstGeom>
          <a:solidFill>
            <a:srgbClr val="0D9488"/>
          </a:solidFill>
          <a:ln w="12700">
            <a:solidFill>
              <a:srgbClr val="0D9488"/>
            </a:solidFill>
            <a:prstDash val="solid"/>
          </a:ln>
        </p:spPr>
      </p:sp>
      <p:sp>
        <p:nvSpPr>
          <p:cNvPr id="13" name="Text 11"/>
          <p:cNvSpPr/>
          <p:nvPr/>
        </p:nvSpPr>
        <p:spPr>
          <a:xfrm>
            <a:off x="704088" y="223113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App NEVER goes fully down — always functional</a:t>
            </a:r>
            <a:endParaRPr lang="en-US" sz="950" dirty="0"/>
          </a:p>
        </p:txBody>
      </p:sp>
      <p:sp>
        <p:nvSpPr>
          <p:cNvPr id="14" name="Shape 12"/>
          <p:cNvSpPr/>
          <p:nvPr/>
        </p:nvSpPr>
        <p:spPr>
          <a:xfrm>
            <a:off x="493776" y="2569464"/>
            <a:ext cx="118872" cy="118872"/>
          </a:xfrm>
          <a:prstGeom prst="ellipse">
            <a:avLst/>
          </a:prstGeom>
          <a:solidFill>
            <a:srgbClr val="0D9488"/>
          </a:solidFill>
          <a:ln w="12700">
            <a:solidFill>
              <a:srgbClr val="0D9488"/>
            </a:solidFill>
            <a:prstDash val="solid"/>
          </a:ln>
        </p:spPr>
      </p:sp>
      <p:sp>
        <p:nvSpPr>
          <p:cNvPr id="15" name="Text 13"/>
          <p:cNvSpPr/>
          <p:nvPr/>
        </p:nvSpPr>
        <p:spPr>
          <a:xfrm>
            <a:off x="704088" y="250545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Every controller has explicit DB fallback logic</a:t>
            </a:r>
            <a:endParaRPr lang="en-US" sz="950" dirty="0"/>
          </a:p>
        </p:txBody>
      </p:sp>
      <p:sp>
        <p:nvSpPr>
          <p:cNvPr id="16" name="Shape 14"/>
          <p:cNvSpPr/>
          <p:nvPr/>
        </p:nvSpPr>
        <p:spPr>
          <a:xfrm>
            <a:off x="4709160" y="111556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Shape 15"/>
          <p:cNvSpPr/>
          <p:nvPr/>
        </p:nvSpPr>
        <p:spPr>
          <a:xfrm>
            <a:off x="4837176" y="1243584"/>
            <a:ext cx="457200" cy="457200"/>
          </a:xfrm>
          <a:prstGeom prst="roundRect">
            <a:avLst>
              <a:gd name="adj" fmla="val 12000"/>
            </a:avLst>
          </a:prstGeom>
          <a:solidFill>
            <a:srgbClr val="0891B2"/>
          </a:solidFill>
          <a:ln w="12700">
            <a:solidFill>
              <a:srgbClr val="0891B2"/>
            </a:solidFill>
            <a:prstDash val="solid"/>
          </a:ln>
        </p:spPr>
      </p:sp>
      <p:sp>
        <p:nvSpPr>
          <p:cNvPr id="18" name="Text 16"/>
          <p:cNvSpPr/>
          <p:nvPr/>
        </p:nvSpPr>
        <p:spPr>
          <a:xfrm>
            <a:off x="4837176" y="124358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9" name="Text 17"/>
          <p:cNvSpPr/>
          <p:nvPr/>
        </p:nvSpPr>
        <p:spPr>
          <a:xfrm>
            <a:off x="5367528" y="1280160"/>
            <a:ext cx="347472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Security Architecture</a:t>
            </a:r>
            <a:endParaRPr lang="en-US" sz="1200" dirty="0"/>
          </a:p>
        </p:txBody>
      </p:sp>
      <p:sp>
        <p:nvSpPr>
          <p:cNvPr id="20" name="Shape 18"/>
          <p:cNvSpPr/>
          <p:nvPr/>
        </p:nvSpPr>
        <p:spPr>
          <a:xfrm>
            <a:off x="4910328" y="1746504"/>
            <a:ext cx="118872" cy="118872"/>
          </a:xfrm>
          <a:prstGeom prst="ellipse">
            <a:avLst/>
          </a:prstGeom>
          <a:solidFill>
            <a:srgbClr val="0891B2"/>
          </a:solidFill>
          <a:ln w="12700">
            <a:solidFill>
              <a:srgbClr val="0891B2"/>
            </a:solidFill>
            <a:prstDash val="solid"/>
          </a:ln>
        </p:spPr>
      </p:sp>
      <p:sp>
        <p:nvSpPr>
          <p:cNvPr id="21" name="Text 19"/>
          <p:cNvSpPr/>
          <p:nvPr/>
        </p:nvSpPr>
        <p:spPr>
          <a:xfrm>
            <a:off x="5120640" y="168249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helmet middleware — blocks XSS, clickjacking, MIME sniffing</a:t>
            </a:r>
            <a:endParaRPr lang="en-US" sz="950" dirty="0"/>
          </a:p>
        </p:txBody>
      </p:sp>
      <p:sp>
        <p:nvSpPr>
          <p:cNvPr id="22" name="Shape 20"/>
          <p:cNvSpPr/>
          <p:nvPr/>
        </p:nvSpPr>
        <p:spPr>
          <a:xfrm>
            <a:off x="4910328" y="2020824"/>
            <a:ext cx="118872" cy="118872"/>
          </a:xfrm>
          <a:prstGeom prst="ellipse">
            <a:avLst/>
          </a:prstGeom>
          <a:solidFill>
            <a:srgbClr val="0891B2"/>
          </a:solidFill>
          <a:ln w="12700">
            <a:solidFill>
              <a:srgbClr val="0891B2"/>
            </a:solidFill>
            <a:prstDash val="solid"/>
          </a:ln>
        </p:spPr>
      </p:sp>
      <p:sp>
        <p:nvSpPr>
          <p:cNvPr id="23" name="Text 21"/>
          <p:cNvSpPr/>
          <p:nvPr/>
        </p:nvSpPr>
        <p:spPr>
          <a:xfrm>
            <a:off x="5120640" y="195681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AWS WAF — Web Application Firewall via CloudFront</a:t>
            </a:r>
            <a:endParaRPr lang="en-US" sz="950" dirty="0"/>
          </a:p>
        </p:txBody>
      </p:sp>
      <p:sp>
        <p:nvSpPr>
          <p:cNvPr id="24" name="Shape 22"/>
          <p:cNvSpPr/>
          <p:nvPr/>
        </p:nvSpPr>
        <p:spPr>
          <a:xfrm>
            <a:off x="4910328" y="2295144"/>
            <a:ext cx="118872" cy="118872"/>
          </a:xfrm>
          <a:prstGeom prst="ellipse">
            <a:avLst/>
          </a:prstGeom>
          <a:solidFill>
            <a:srgbClr val="0891B2"/>
          </a:solidFill>
          <a:ln w="12700">
            <a:solidFill>
              <a:srgbClr val="0891B2"/>
            </a:solidFill>
            <a:prstDash val="solid"/>
          </a:ln>
        </p:spPr>
      </p:sp>
      <p:sp>
        <p:nvSpPr>
          <p:cNvPr id="25" name="Text 23"/>
          <p:cNvSpPr/>
          <p:nvPr/>
        </p:nvSpPr>
        <p:spPr>
          <a:xfrm>
            <a:off x="5120640" y="223113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Presigned S3 URLs expire after 1 hour automatically</a:t>
            </a:r>
            <a:endParaRPr lang="en-US" sz="950" dirty="0"/>
          </a:p>
        </p:txBody>
      </p:sp>
      <p:sp>
        <p:nvSpPr>
          <p:cNvPr id="26" name="Shape 24"/>
          <p:cNvSpPr/>
          <p:nvPr/>
        </p:nvSpPr>
        <p:spPr>
          <a:xfrm>
            <a:off x="4910328" y="2569464"/>
            <a:ext cx="118872" cy="118872"/>
          </a:xfrm>
          <a:prstGeom prst="ellipse">
            <a:avLst/>
          </a:prstGeom>
          <a:solidFill>
            <a:srgbClr val="0891B2"/>
          </a:solidFill>
          <a:ln w="12700">
            <a:solidFill>
              <a:srgbClr val="0891B2"/>
            </a:solidFill>
            <a:prstDash val="solid"/>
          </a:ln>
        </p:spPr>
      </p:sp>
      <p:sp>
        <p:nvSpPr>
          <p:cNvPr id="27" name="Text 25"/>
          <p:cNvSpPr/>
          <p:nvPr/>
        </p:nvSpPr>
        <p:spPr>
          <a:xfrm>
            <a:off x="5120640" y="250545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GitHub Secrets store all credentials — never in code</a:t>
            </a:r>
            <a:endParaRPr lang="en-US" sz="950" dirty="0"/>
          </a:p>
        </p:txBody>
      </p:sp>
      <p:sp>
        <p:nvSpPr>
          <p:cNvPr id="28" name="Shape 26"/>
          <p:cNvSpPr/>
          <p:nvPr/>
        </p:nvSpPr>
        <p:spPr>
          <a:xfrm>
            <a:off x="292608" y="303580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9" name="Shape 27"/>
          <p:cNvSpPr/>
          <p:nvPr/>
        </p:nvSpPr>
        <p:spPr>
          <a:xfrm>
            <a:off x="420624" y="3163824"/>
            <a:ext cx="457200" cy="457200"/>
          </a:xfrm>
          <a:prstGeom prst="roundRect">
            <a:avLst>
              <a:gd name="adj" fmla="val 12000"/>
            </a:avLst>
          </a:prstGeom>
          <a:solidFill>
            <a:srgbClr val="065A82"/>
          </a:solidFill>
          <a:ln w="12700">
            <a:solidFill>
              <a:srgbClr val="065A82"/>
            </a:solidFill>
            <a:prstDash val="solid"/>
          </a:ln>
        </p:spPr>
      </p:sp>
      <p:sp>
        <p:nvSpPr>
          <p:cNvPr id="30" name="Text 28"/>
          <p:cNvSpPr/>
          <p:nvPr/>
        </p:nvSpPr>
        <p:spPr>
          <a:xfrm>
            <a:off x="420624" y="316382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31" name="Text 29"/>
          <p:cNvSpPr/>
          <p:nvPr/>
        </p:nvSpPr>
        <p:spPr>
          <a:xfrm>
            <a:off x="950976" y="3200400"/>
            <a:ext cx="347472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Background Database Sync</a:t>
            </a:r>
            <a:endParaRPr lang="en-US" sz="1200" dirty="0"/>
          </a:p>
        </p:txBody>
      </p:sp>
      <p:sp>
        <p:nvSpPr>
          <p:cNvPr id="32" name="Shape 30"/>
          <p:cNvSpPr/>
          <p:nvPr/>
        </p:nvSpPr>
        <p:spPr>
          <a:xfrm>
            <a:off x="493776" y="3666744"/>
            <a:ext cx="118872" cy="118872"/>
          </a:xfrm>
          <a:prstGeom prst="ellipse">
            <a:avLst/>
          </a:prstGeom>
          <a:solidFill>
            <a:srgbClr val="065A82"/>
          </a:solidFill>
          <a:ln w="12700">
            <a:solidFill>
              <a:srgbClr val="065A82"/>
            </a:solidFill>
            <a:prstDash val="solid"/>
          </a:ln>
        </p:spPr>
      </p:sp>
      <p:sp>
        <p:nvSpPr>
          <p:cNvPr id="33" name="Text 31"/>
          <p:cNvSpPr/>
          <p:nvPr/>
        </p:nvSpPr>
        <p:spPr>
          <a:xfrm>
            <a:off x="704088" y="360273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On every list request S3 and PostgreSQL are compared</a:t>
            </a:r>
            <a:endParaRPr lang="en-US" sz="950" dirty="0"/>
          </a:p>
        </p:txBody>
      </p:sp>
      <p:sp>
        <p:nvSpPr>
          <p:cNvPr id="34" name="Shape 32"/>
          <p:cNvSpPr/>
          <p:nvPr/>
        </p:nvSpPr>
        <p:spPr>
          <a:xfrm>
            <a:off x="493776" y="3941064"/>
            <a:ext cx="118872" cy="118872"/>
          </a:xfrm>
          <a:prstGeom prst="ellipse">
            <a:avLst/>
          </a:prstGeom>
          <a:solidFill>
            <a:srgbClr val="065A82"/>
          </a:solidFill>
          <a:ln w="12700">
            <a:solidFill>
              <a:srgbClr val="065A82"/>
            </a:solidFill>
            <a:prstDash val="solid"/>
          </a:ln>
        </p:spPr>
      </p:sp>
      <p:sp>
        <p:nvSpPr>
          <p:cNvPr id="35" name="Text 33"/>
          <p:cNvSpPr/>
          <p:nvPr/>
        </p:nvSpPr>
        <p:spPr>
          <a:xfrm>
            <a:off x="704088" y="387705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Files in S3 but missing from DB are automatically added</a:t>
            </a:r>
            <a:endParaRPr lang="en-US" sz="950" dirty="0"/>
          </a:p>
        </p:txBody>
      </p:sp>
      <p:sp>
        <p:nvSpPr>
          <p:cNvPr id="36" name="Shape 34"/>
          <p:cNvSpPr/>
          <p:nvPr/>
        </p:nvSpPr>
        <p:spPr>
          <a:xfrm>
            <a:off x="493776" y="4215384"/>
            <a:ext cx="118872" cy="118872"/>
          </a:xfrm>
          <a:prstGeom prst="ellipse">
            <a:avLst/>
          </a:prstGeom>
          <a:solidFill>
            <a:srgbClr val="065A82"/>
          </a:solidFill>
          <a:ln w="12700">
            <a:solidFill>
              <a:srgbClr val="065A82"/>
            </a:solidFill>
            <a:prstDash val="solid"/>
          </a:ln>
        </p:spPr>
      </p:sp>
      <p:sp>
        <p:nvSpPr>
          <p:cNvPr id="37" name="Text 35"/>
          <p:cNvSpPr/>
          <p:nvPr/>
        </p:nvSpPr>
        <p:spPr>
          <a:xfrm>
            <a:off x="704088" y="415137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Files deleted from S3 are removed from DB automatically</a:t>
            </a:r>
            <a:endParaRPr lang="en-US" sz="950" dirty="0"/>
          </a:p>
        </p:txBody>
      </p:sp>
      <p:sp>
        <p:nvSpPr>
          <p:cNvPr id="38" name="Shape 36"/>
          <p:cNvSpPr/>
          <p:nvPr/>
        </p:nvSpPr>
        <p:spPr>
          <a:xfrm>
            <a:off x="493776" y="4489704"/>
            <a:ext cx="118872" cy="118872"/>
          </a:xfrm>
          <a:prstGeom prst="ellipse">
            <a:avLst/>
          </a:prstGeom>
          <a:solidFill>
            <a:srgbClr val="065A82"/>
          </a:solidFill>
          <a:ln w="12700">
            <a:solidFill>
              <a:srgbClr val="065A82"/>
            </a:solidFill>
            <a:prstDash val="solid"/>
          </a:ln>
        </p:spPr>
      </p:sp>
      <p:sp>
        <p:nvSpPr>
          <p:cNvPr id="39" name="Text 37"/>
          <p:cNvSpPr/>
          <p:nvPr/>
        </p:nvSpPr>
        <p:spPr>
          <a:xfrm>
            <a:off x="704088" y="442569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Users always see accurate, consistent file lists</a:t>
            </a:r>
            <a:endParaRPr lang="en-US" sz="950" dirty="0"/>
          </a:p>
        </p:txBody>
      </p:sp>
      <p:sp>
        <p:nvSpPr>
          <p:cNvPr id="40" name="Shape 38"/>
          <p:cNvSpPr/>
          <p:nvPr/>
        </p:nvSpPr>
        <p:spPr>
          <a:xfrm>
            <a:off x="4709160" y="303580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41" name="Shape 39"/>
          <p:cNvSpPr/>
          <p:nvPr/>
        </p:nvSpPr>
        <p:spPr>
          <a:xfrm>
            <a:off x="4837176" y="3163824"/>
            <a:ext cx="457200" cy="457200"/>
          </a:xfrm>
          <a:prstGeom prst="roundRect">
            <a:avLst>
              <a:gd name="adj" fmla="val 12000"/>
            </a:avLst>
          </a:prstGeom>
          <a:solidFill>
            <a:srgbClr val="7C3AED"/>
          </a:solidFill>
          <a:ln w="12700">
            <a:solidFill>
              <a:srgbClr val="7C3AED"/>
            </a:solidFill>
            <a:prstDash val="solid"/>
          </a:ln>
        </p:spPr>
      </p:sp>
      <p:sp>
        <p:nvSpPr>
          <p:cNvPr id="42" name="Text 40"/>
          <p:cNvSpPr/>
          <p:nvPr/>
        </p:nvSpPr>
        <p:spPr>
          <a:xfrm>
            <a:off x="4837176" y="3163824"/>
            <a:ext cx="457200" cy="457200"/>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43" name="Text 41"/>
          <p:cNvSpPr/>
          <p:nvPr/>
        </p:nvSpPr>
        <p:spPr>
          <a:xfrm>
            <a:off x="5367528" y="3200400"/>
            <a:ext cx="3474720" cy="329184"/>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CloudFront Production Stack</a:t>
            </a:r>
            <a:endParaRPr lang="en-US" sz="1200" dirty="0"/>
          </a:p>
        </p:txBody>
      </p:sp>
      <p:sp>
        <p:nvSpPr>
          <p:cNvPr id="44" name="Shape 42"/>
          <p:cNvSpPr/>
          <p:nvPr/>
        </p:nvSpPr>
        <p:spPr>
          <a:xfrm>
            <a:off x="4910328" y="3666744"/>
            <a:ext cx="118872" cy="118872"/>
          </a:xfrm>
          <a:prstGeom prst="ellipse">
            <a:avLst/>
          </a:prstGeom>
          <a:solidFill>
            <a:srgbClr val="7C3AED"/>
          </a:solidFill>
          <a:ln w="12700">
            <a:solidFill>
              <a:srgbClr val="7C3AED"/>
            </a:solidFill>
            <a:prstDash val="solid"/>
          </a:ln>
        </p:spPr>
      </p:sp>
      <p:sp>
        <p:nvSpPr>
          <p:cNvPr id="45" name="Text 43"/>
          <p:cNvSpPr/>
          <p:nvPr/>
        </p:nvSpPr>
        <p:spPr>
          <a:xfrm>
            <a:off x="5120640" y="360273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HTTPS served globally via CloudFront CDN</a:t>
            </a:r>
            <a:endParaRPr lang="en-US" sz="950" dirty="0"/>
          </a:p>
        </p:txBody>
      </p:sp>
      <p:sp>
        <p:nvSpPr>
          <p:cNvPr id="46" name="Shape 44"/>
          <p:cNvSpPr/>
          <p:nvPr/>
        </p:nvSpPr>
        <p:spPr>
          <a:xfrm>
            <a:off x="4910328" y="3941064"/>
            <a:ext cx="118872" cy="118872"/>
          </a:xfrm>
          <a:prstGeom prst="ellipse">
            <a:avLst/>
          </a:prstGeom>
          <a:solidFill>
            <a:srgbClr val="7C3AED"/>
          </a:solidFill>
          <a:ln w="12700">
            <a:solidFill>
              <a:srgbClr val="7C3AED"/>
            </a:solidFill>
            <a:prstDash val="solid"/>
          </a:ln>
        </p:spPr>
      </p:sp>
      <p:sp>
        <p:nvSpPr>
          <p:cNvPr id="47" name="Text 45"/>
          <p:cNvSpPr/>
          <p:nvPr/>
        </p:nvSpPr>
        <p:spPr>
          <a:xfrm>
            <a:off x="5120640" y="387705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WAF SizeRestrictions_BODY set to Count — allows 50MB uploads</a:t>
            </a:r>
            <a:endParaRPr lang="en-US" sz="950" dirty="0"/>
          </a:p>
        </p:txBody>
      </p:sp>
      <p:sp>
        <p:nvSpPr>
          <p:cNvPr id="48" name="Shape 46"/>
          <p:cNvSpPr/>
          <p:nvPr/>
        </p:nvSpPr>
        <p:spPr>
          <a:xfrm>
            <a:off x="4910328" y="4215384"/>
            <a:ext cx="118872" cy="118872"/>
          </a:xfrm>
          <a:prstGeom prst="ellipse">
            <a:avLst/>
          </a:prstGeom>
          <a:solidFill>
            <a:srgbClr val="7C3AED"/>
          </a:solidFill>
          <a:ln w="12700">
            <a:solidFill>
              <a:srgbClr val="7C3AED"/>
            </a:solidFill>
            <a:prstDash val="solid"/>
          </a:ln>
        </p:spPr>
      </p:sp>
      <p:sp>
        <p:nvSpPr>
          <p:cNvPr id="49" name="Text 47"/>
          <p:cNvSpPr/>
          <p:nvPr/>
        </p:nvSpPr>
        <p:spPr>
          <a:xfrm>
            <a:off x="5120640" y="415137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Nginx serves React build + proxies /api/ to Express</a:t>
            </a:r>
            <a:endParaRPr lang="en-US" sz="950" dirty="0"/>
          </a:p>
        </p:txBody>
      </p:sp>
      <p:sp>
        <p:nvSpPr>
          <p:cNvPr id="50" name="Shape 48"/>
          <p:cNvSpPr/>
          <p:nvPr/>
        </p:nvSpPr>
        <p:spPr>
          <a:xfrm>
            <a:off x="4910328" y="4489704"/>
            <a:ext cx="118872" cy="118872"/>
          </a:xfrm>
          <a:prstGeom prst="ellipse">
            <a:avLst/>
          </a:prstGeom>
          <a:solidFill>
            <a:srgbClr val="7C3AED"/>
          </a:solidFill>
          <a:ln w="12700">
            <a:solidFill>
              <a:srgbClr val="7C3AED"/>
            </a:solidFill>
            <a:prstDash val="solid"/>
          </a:ln>
        </p:spPr>
      </p:sp>
      <p:sp>
        <p:nvSpPr>
          <p:cNvPr id="51" name="Text 49"/>
          <p:cNvSpPr/>
          <p:nvPr/>
        </p:nvSpPr>
        <p:spPr>
          <a:xfrm>
            <a:off x="5120640" y="4425696"/>
            <a:ext cx="3749040" cy="237744"/>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PM2 auto-restarts Node.js after crashes or reboots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REST API Design</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Six clean endpoints — each with a single clear responsibility</a:t>
            </a:r>
            <a:endParaRPr lang="en-US" sz="1200" dirty="0"/>
          </a:p>
        </p:txBody>
      </p:sp>
      <p:sp>
        <p:nvSpPr>
          <p:cNvPr id="4" name="Text 2"/>
          <p:cNvSpPr/>
          <p:nvPr/>
        </p:nvSpPr>
        <p:spPr>
          <a:xfrm>
            <a:off x="457200" y="804672"/>
            <a:ext cx="5486400" cy="201168"/>
          </a:xfrm>
          <a:prstGeom prst="rect">
            <a:avLst/>
          </a:prstGeom>
          <a:noFill/>
          <a:ln/>
        </p:spPr>
        <p:txBody>
          <a:bodyPr wrap="square" lIns="0" tIns="0" rIns="0" bIns="0" rtlCol="0" anchor="ctr"/>
          <a:lstStyle/>
          <a:p>
            <a:pPr marL="0" indent="0" algn="l">
              <a:buNone/>
            </a:pPr>
            <a:r>
              <a:rPr lang="en-US" sz="800" kern="0" spc="100" dirty="0">
                <a:solidFill>
                  <a:srgbClr val="0D9488"/>
                </a:solidFill>
                <a:latin typeface="Courier New" pitchFamily="34" charset="0"/>
                <a:ea typeface="Courier New" pitchFamily="34" charset="-122"/>
                <a:cs typeface="Courier New" pitchFamily="34" charset="-120"/>
              </a:rPr>
              <a:t>// server/src/routes/files.js</a:t>
            </a:r>
            <a:endParaRPr lang="en-US" sz="800" dirty="0"/>
          </a:p>
        </p:txBody>
      </p:sp>
      <p:sp>
        <p:nvSpPr>
          <p:cNvPr id="5" name="Shape 3"/>
          <p:cNvSpPr/>
          <p:nvPr/>
        </p:nvSpPr>
        <p:spPr>
          <a:xfrm>
            <a:off x="292608" y="117043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6" name="Shape 4"/>
          <p:cNvSpPr/>
          <p:nvPr/>
        </p:nvSpPr>
        <p:spPr>
          <a:xfrm>
            <a:off x="347472" y="1252728"/>
            <a:ext cx="822960" cy="347472"/>
          </a:xfrm>
          <a:prstGeom prst="roundRect">
            <a:avLst>
              <a:gd name="adj" fmla="val 13158"/>
            </a:avLst>
          </a:prstGeom>
          <a:solidFill>
            <a:srgbClr val="16A34A"/>
          </a:solidFill>
          <a:ln w="12700">
            <a:solidFill>
              <a:srgbClr val="16A34A"/>
            </a:solidFill>
            <a:prstDash val="solid"/>
          </a:ln>
        </p:spPr>
      </p:sp>
      <p:sp>
        <p:nvSpPr>
          <p:cNvPr id="7" name="Text 5"/>
          <p:cNvSpPr/>
          <p:nvPr/>
        </p:nvSpPr>
        <p:spPr>
          <a:xfrm>
            <a:off x="347472" y="125272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GET</a:t>
            </a:r>
            <a:endParaRPr lang="en-US" sz="1000" dirty="0"/>
          </a:p>
        </p:txBody>
      </p:sp>
      <p:sp>
        <p:nvSpPr>
          <p:cNvPr id="8" name="Text 6"/>
          <p:cNvSpPr/>
          <p:nvPr/>
        </p:nvSpPr>
        <p:spPr>
          <a:xfrm>
            <a:off x="1261872" y="126187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/api/health</a:t>
            </a:r>
            <a:endParaRPr lang="en-US" sz="1150" dirty="0"/>
          </a:p>
        </p:txBody>
      </p:sp>
      <p:sp>
        <p:nvSpPr>
          <p:cNvPr id="9" name="Text 7"/>
          <p:cNvSpPr/>
          <p:nvPr/>
        </p:nvSpPr>
        <p:spPr>
          <a:xfrm>
            <a:off x="4553712" y="129844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Health check — confirms app status, DB mode (full vs S3-only), timestamp</a:t>
            </a:r>
            <a:endParaRPr lang="en-US" sz="1000" dirty="0"/>
          </a:p>
        </p:txBody>
      </p:sp>
      <p:sp>
        <p:nvSpPr>
          <p:cNvPr id="10" name="Shape 8"/>
          <p:cNvSpPr/>
          <p:nvPr/>
        </p:nvSpPr>
        <p:spPr>
          <a:xfrm>
            <a:off x="292608" y="176479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1" name="Shape 9"/>
          <p:cNvSpPr/>
          <p:nvPr/>
        </p:nvSpPr>
        <p:spPr>
          <a:xfrm>
            <a:off x="347472" y="1847088"/>
            <a:ext cx="822960" cy="347472"/>
          </a:xfrm>
          <a:prstGeom prst="roundRect">
            <a:avLst>
              <a:gd name="adj" fmla="val 13158"/>
            </a:avLst>
          </a:prstGeom>
          <a:solidFill>
            <a:srgbClr val="16A34A"/>
          </a:solidFill>
          <a:ln w="12700">
            <a:solidFill>
              <a:srgbClr val="16A34A"/>
            </a:solidFill>
            <a:prstDash val="solid"/>
          </a:ln>
        </p:spPr>
      </p:sp>
      <p:sp>
        <p:nvSpPr>
          <p:cNvPr id="12" name="Text 10"/>
          <p:cNvSpPr/>
          <p:nvPr/>
        </p:nvSpPr>
        <p:spPr>
          <a:xfrm>
            <a:off x="347472" y="184708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GET</a:t>
            </a:r>
            <a:endParaRPr lang="en-US" sz="1000" dirty="0"/>
          </a:p>
        </p:txBody>
      </p:sp>
      <p:sp>
        <p:nvSpPr>
          <p:cNvPr id="13" name="Text 11"/>
          <p:cNvSpPr/>
          <p:nvPr/>
        </p:nvSpPr>
        <p:spPr>
          <a:xfrm>
            <a:off x="1261872" y="185623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/api/files</a:t>
            </a:r>
            <a:endParaRPr lang="en-US" sz="1150" dirty="0"/>
          </a:p>
        </p:txBody>
      </p:sp>
      <p:sp>
        <p:nvSpPr>
          <p:cNvPr id="14" name="Text 12"/>
          <p:cNvSpPr/>
          <p:nvPr/>
        </p:nvSpPr>
        <p:spPr>
          <a:xfrm>
            <a:off x="4553712" y="189280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List all files — supports ?category= and ?search= query filters</a:t>
            </a:r>
            <a:endParaRPr lang="en-US" sz="1000" dirty="0"/>
          </a:p>
        </p:txBody>
      </p:sp>
      <p:sp>
        <p:nvSpPr>
          <p:cNvPr id="15" name="Shape 13"/>
          <p:cNvSpPr/>
          <p:nvPr/>
        </p:nvSpPr>
        <p:spPr>
          <a:xfrm>
            <a:off x="292608" y="235915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6" name="Shape 14"/>
          <p:cNvSpPr/>
          <p:nvPr/>
        </p:nvSpPr>
        <p:spPr>
          <a:xfrm>
            <a:off x="347472" y="2441448"/>
            <a:ext cx="822960" cy="347472"/>
          </a:xfrm>
          <a:prstGeom prst="roundRect">
            <a:avLst>
              <a:gd name="adj" fmla="val 13158"/>
            </a:avLst>
          </a:prstGeom>
          <a:solidFill>
            <a:srgbClr val="16A34A"/>
          </a:solidFill>
          <a:ln w="12700">
            <a:solidFill>
              <a:srgbClr val="16A34A"/>
            </a:solidFill>
            <a:prstDash val="solid"/>
          </a:ln>
        </p:spPr>
      </p:sp>
      <p:sp>
        <p:nvSpPr>
          <p:cNvPr id="17" name="Text 15"/>
          <p:cNvSpPr/>
          <p:nvPr/>
        </p:nvSpPr>
        <p:spPr>
          <a:xfrm>
            <a:off x="347472" y="244144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GET</a:t>
            </a:r>
            <a:endParaRPr lang="en-US" sz="1000" dirty="0"/>
          </a:p>
        </p:txBody>
      </p:sp>
      <p:sp>
        <p:nvSpPr>
          <p:cNvPr id="18" name="Text 16"/>
          <p:cNvSpPr/>
          <p:nvPr/>
        </p:nvSpPr>
        <p:spPr>
          <a:xfrm>
            <a:off x="1261872" y="245059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/api/files/stats</a:t>
            </a:r>
            <a:endParaRPr lang="en-US" sz="1150" dirty="0"/>
          </a:p>
        </p:txBody>
      </p:sp>
      <p:sp>
        <p:nvSpPr>
          <p:cNvPr id="19" name="Text 17"/>
          <p:cNvSpPr/>
          <p:nvPr/>
        </p:nvSpPr>
        <p:spPr>
          <a:xfrm>
            <a:off x="4553712" y="248716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Returns total file count and total storage size in bytes</a:t>
            </a:r>
            <a:endParaRPr lang="en-US" sz="1000" dirty="0"/>
          </a:p>
        </p:txBody>
      </p:sp>
      <p:sp>
        <p:nvSpPr>
          <p:cNvPr id="20" name="Shape 18"/>
          <p:cNvSpPr/>
          <p:nvPr/>
        </p:nvSpPr>
        <p:spPr>
          <a:xfrm>
            <a:off x="292608" y="295351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1" name="Shape 19"/>
          <p:cNvSpPr/>
          <p:nvPr/>
        </p:nvSpPr>
        <p:spPr>
          <a:xfrm>
            <a:off x="347472" y="3035808"/>
            <a:ext cx="822960" cy="347472"/>
          </a:xfrm>
          <a:prstGeom prst="roundRect">
            <a:avLst>
              <a:gd name="adj" fmla="val 13158"/>
            </a:avLst>
          </a:prstGeom>
          <a:solidFill>
            <a:srgbClr val="065A82"/>
          </a:solidFill>
          <a:ln w="12700">
            <a:solidFill>
              <a:srgbClr val="065A82"/>
            </a:solidFill>
            <a:prstDash val="solid"/>
          </a:ln>
        </p:spPr>
      </p:sp>
      <p:sp>
        <p:nvSpPr>
          <p:cNvPr id="22" name="Text 20"/>
          <p:cNvSpPr/>
          <p:nvPr/>
        </p:nvSpPr>
        <p:spPr>
          <a:xfrm>
            <a:off x="347472" y="303580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POST</a:t>
            </a:r>
            <a:endParaRPr lang="en-US" sz="1000" dirty="0"/>
          </a:p>
        </p:txBody>
      </p:sp>
      <p:sp>
        <p:nvSpPr>
          <p:cNvPr id="23" name="Text 21"/>
          <p:cNvSpPr/>
          <p:nvPr/>
        </p:nvSpPr>
        <p:spPr>
          <a:xfrm>
            <a:off x="1261872" y="304495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/api/files/upload</a:t>
            </a:r>
            <a:endParaRPr lang="en-US" sz="1150" dirty="0"/>
          </a:p>
        </p:txBody>
      </p:sp>
      <p:sp>
        <p:nvSpPr>
          <p:cNvPr id="24" name="Text 22"/>
          <p:cNvSpPr/>
          <p:nvPr/>
        </p:nvSpPr>
        <p:spPr>
          <a:xfrm>
            <a:off x="4553712" y="308152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Upload file — streamed directly from browser to S3 via Multer-S3</a:t>
            </a:r>
            <a:endParaRPr lang="en-US" sz="1000" dirty="0"/>
          </a:p>
        </p:txBody>
      </p:sp>
      <p:sp>
        <p:nvSpPr>
          <p:cNvPr id="25" name="Shape 23"/>
          <p:cNvSpPr/>
          <p:nvPr/>
        </p:nvSpPr>
        <p:spPr>
          <a:xfrm>
            <a:off x="292608" y="354787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6" name="Shape 24"/>
          <p:cNvSpPr/>
          <p:nvPr/>
        </p:nvSpPr>
        <p:spPr>
          <a:xfrm>
            <a:off x="347472" y="3630168"/>
            <a:ext cx="822960" cy="347472"/>
          </a:xfrm>
          <a:prstGeom prst="roundRect">
            <a:avLst>
              <a:gd name="adj" fmla="val 13158"/>
            </a:avLst>
          </a:prstGeom>
          <a:solidFill>
            <a:srgbClr val="16A34A"/>
          </a:solidFill>
          <a:ln w="12700">
            <a:solidFill>
              <a:srgbClr val="16A34A"/>
            </a:solidFill>
            <a:prstDash val="solid"/>
          </a:ln>
        </p:spPr>
      </p:sp>
      <p:sp>
        <p:nvSpPr>
          <p:cNvPr id="27" name="Text 25"/>
          <p:cNvSpPr/>
          <p:nvPr/>
        </p:nvSpPr>
        <p:spPr>
          <a:xfrm>
            <a:off x="347472" y="363016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GET</a:t>
            </a:r>
            <a:endParaRPr lang="en-US" sz="1000" dirty="0"/>
          </a:p>
        </p:txBody>
      </p:sp>
      <p:sp>
        <p:nvSpPr>
          <p:cNvPr id="28" name="Text 26"/>
          <p:cNvSpPr/>
          <p:nvPr/>
        </p:nvSpPr>
        <p:spPr>
          <a:xfrm>
            <a:off x="1261872" y="363931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/api/files/:id/download</a:t>
            </a:r>
            <a:endParaRPr lang="en-US" sz="1150" dirty="0"/>
          </a:p>
        </p:txBody>
      </p:sp>
      <p:sp>
        <p:nvSpPr>
          <p:cNvPr id="29" name="Text 27"/>
          <p:cNvSpPr/>
          <p:nvPr/>
        </p:nvSpPr>
        <p:spPr>
          <a:xfrm>
            <a:off x="4553712" y="367588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Generates presigned S3 URL with 1-hour expiry for secure download</a:t>
            </a:r>
            <a:endParaRPr lang="en-US" sz="1000" dirty="0"/>
          </a:p>
        </p:txBody>
      </p:sp>
      <p:sp>
        <p:nvSpPr>
          <p:cNvPr id="30" name="Shape 28"/>
          <p:cNvSpPr/>
          <p:nvPr/>
        </p:nvSpPr>
        <p:spPr>
          <a:xfrm>
            <a:off x="292608" y="4142232"/>
            <a:ext cx="8558784" cy="530352"/>
          </a:xfrm>
          <a:prstGeom prst="roundRect">
            <a:avLst>
              <a:gd name="adj" fmla="val 13793"/>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1" name="Shape 29"/>
          <p:cNvSpPr/>
          <p:nvPr/>
        </p:nvSpPr>
        <p:spPr>
          <a:xfrm>
            <a:off x="347472" y="4224528"/>
            <a:ext cx="822960" cy="347472"/>
          </a:xfrm>
          <a:prstGeom prst="roundRect">
            <a:avLst>
              <a:gd name="adj" fmla="val 13158"/>
            </a:avLst>
          </a:prstGeom>
          <a:solidFill>
            <a:srgbClr val="DC2626"/>
          </a:solidFill>
          <a:ln w="12700">
            <a:solidFill>
              <a:srgbClr val="DC2626"/>
            </a:solidFill>
            <a:prstDash val="solid"/>
          </a:ln>
        </p:spPr>
      </p:sp>
      <p:sp>
        <p:nvSpPr>
          <p:cNvPr id="32" name="Text 30"/>
          <p:cNvSpPr/>
          <p:nvPr/>
        </p:nvSpPr>
        <p:spPr>
          <a:xfrm>
            <a:off x="347472" y="4224528"/>
            <a:ext cx="82296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ourier New" pitchFamily="34" charset="0"/>
                <a:ea typeface="Courier New" pitchFamily="34" charset="-122"/>
                <a:cs typeface="Courier New" pitchFamily="34" charset="-120"/>
              </a:rPr>
              <a:t>DELETE</a:t>
            </a:r>
            <a:endParaRPr lang="en-US" sz="1000" dirty="0"/>
          </a:p>
        </p:txBody>
      </p:sp>
      <p:sp>
        <p:nvSpPr>
          <p:cNvPr id="33" name="Text 31"/>
          <p:cNvSpPr/>
          <p:nvPr/>
        </p:nvSpPr>
        <p:spPr>
          <a:xfrm>
            <a:off x="1261872" y="4233672"/>
            <a:ext cx="3200400" cy="347472"/>
          </a:xfrm>
          <a:prstGeom prst="rect">
            <a:avLst/>
          </a:prstGeom>
          <a:noFill/>
          <a:ln/>
        </p:spPr>
        <p:txBody>
          <a:bodyPr wrap="square" lIns="0" tIns="0" rIns="0" bIns="0" rtlCol="0" anchor="ctr"/>
          <a:lstStyle/>
          <a:p>
            <a:pPr marL="0" indent="0" algn="l">
              <a:buNone/>
            </a:pPr>
            <a:r>
              <a:rPr lang="en-US" sz="1150" dirty="0">
                <a:solidFill>
                  <a:srgbClr val="5EEAD4"/>
                </a:solidFill>
                <a:latin typeface="Courier New" pitchFamily="34" charset="0"/>
                <a:ea typeface="Courier New" pitchFamily="34" charset="-122"/>
                <a:cs typeface="Courier New" pitchFamily="34" charset="-120"/>
              </a:rPr>
              <a:t>/api/files/:id</a:t>
            </a:r>
            <a:endParaRPr lang="en-US" sz="1150" dirty="0"/>
          </a:p>
        </p:txBody>
      </p:sp>
      <p:sp>
        <p:nvSpPr>
          <p:cNvPr id="34" name="Text 32"/>
          <p:cNvSpPr/>
          <p:nvPr/>
        </p:nvSpPr>
        <p:spPr>
          <a:xfrm>
            <a:off x="4553712" y="4270248"/>
            <a:ext cx="4206240" cy="274320"/>
          </a:xfrm>
          <a:prstGeom prst="rect">
            <a:avLst/>
          </a:prstGeom>
          <a:noFill/>
          <a:ln/>
        </p:spPr>
        <p:txBody>
          <a:bodyPr wrap="square" lIns="0" tIns="0" rIns="0" bIns="0" rtlCol="0" anchor="ctr"/>
          <a:lstStyle/>
          <a:p>
            <a:pPr marL="0" indent="0" algn="l">
              <a:buNone/>
            </a:pPr>
            <a:r>
              <a:rPr lang="en-US" sz="1000" dirty="0">
                <a:solidFill>
                  <a:srgbClr val="CBD5E1"/>
                </a:solidFill>
                <a:latin typeface="Calibri" pitchFamily="34" charset="0"/>
                <a:ea typeface="Calibri" pitchFamily="34" charset="-122"/>
                <a:cs typeface="Calibri" pitchFamily="34" charset="-120"/>
              </a:rPr>
              <a:t>Deletes from both S3 and PostgreSQL atomically — no orphaned records</a:t>
            </a:r>
            <a:endParaRPr lang="en-US" sz="1000" dirty="0"/>
          </a:p>
        </p:txBody>
      </p:sp>
      <p:sp>
        <p:nvSpPr>
          <p:cNvPr id="35" name="Shape 33"/>
          <p:cNvSpPr/>
          <p:nvPr/>
        </p:nvSpPr>
        <p:spPr>
          <a:xfrm>
            <a:off x="320040" y="4754880"/>
            <a:ext cx="8503920" cy="292608"/>
          </a:xfrm>
          <a:prstGeom prst="roundRect">
            <a:avLst>
              <a:gd name="adj" fmla="val 25000"/>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36" name="Text 34"/>
          <p:cNvSpPr/>
          <p:nvPr/>
        </p:nvSpPr>
        <p:spPr>
          <a:xfrm>
            <a:off x="320040" y="4754880"/>
            <a:ext cx="8503920" cy="292608"/>
          </a:xfrm>
          <a:prstGeom prst="rect">
            <a:avLst/>
          </a:prstGeom>
          <a:noFill/>
          <a:ln/>
        </p:spPr>
        <p:txBody>
          <a:bodyPr wrap="square" lIns="0" tIns="0" rIns="0" bIns="0" rtlCol="0" anchor="ctr"/>
          <a:lstStyle/>
          <a:p>
            <a:pPr marL="0" indent="0" algn="ctr">
              <a:buNone/>
            </a:pPr>
            <a:r>
              <a:rPr lang="en-US" sz="1000" dirty="0">
                <a:solidFill>
                  <a:srgbClr val="5EEAD4"/>
                </a:solidFill>
                <a:latin typeface="Calibri" pitchFamily="34" charset="0"/>
                <a:ea typeface="Calibri" pitchFamily="34" charset="-122"/>
                <a:cs typeface="Calibri" pitchFamily="34" charset="-120"/>
              </a:rPr>
              <a:t>💡  Every endpoint has a database fallback — if PostgreSQL is unavailable the API continues serving files directly from S3</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CI/CD Pipeline — Live Evidence</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GitHub Actions deploying CloudDrop to EC2 — Build #11 succeeded in 51 seconds</a:t>
            </a:r>
            <a:endParaRPr lang="en-US" sz="1200" dirty="0"/>
          </a:p>
        </p:txBody>
      </p:sp>
      <p:sp>
        <p:nvSpPr>
          <p:cNvPr id="4" name="Shape 2"/>
          <p:cNvSpPr/>
          <p:nvPr/>
        </p:nvSpPr>
        <p:spPr>
          <a:xfrm>
            <a:off x="292608" y="1115568"/>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Shape 3"/>
          <p:cNvSpPr/>
          <p:nvPr/>
        </p:nvSpPr>
        <p:spPr>
          <a:xfrm>
            <a:off x="402336" y="1243584"/>
            <a:ext cx="411480" cy="411480"/>
          </a:xfrm>
          <a:prstGeom prst="ellipse">
            <a:avLst/>
          </a:prstGeom>
          <a:solidFill>
            <a:srgbClr val="065A82"/>
          </a:solidFill>
          <a:ln w="12700">
            <a:solidFill>
              <a:srgbClr val="0D9488"/>
            </a:solidFill>
            <a:prstDash val="solid"/>
          </a:ln>
        </p:spPr>
      </p:sp>
      <p:sp>
        <p:nvSpPr>
          <p:cNvPr id="6" name="Text 4"/>
          <p:cNvSpPr/>
          <p:nvPr/>
        </p:nvSpPr>
        <p:spPr>
          <a:xfrm>
            <a:off x="402336" y="1243584"/>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859536" y="1207008"/>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8" name="Text 6"/>
          <p:cNvSpPr/>
          <p:nvPr/>
        </p:nvSpPr>
        <p:spPr>
          <a:xfrm>
            <a:off x="402336" y="1709928"/>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Push to clouddrop branch</a:t>
            </a:r>
            <a:endParaRPr lang="en-US" sz="1000" dirty="0"/>
          </a:p>
        </p:txBody>
      </p:sp>
      <p:sp>
        <p:nvSpPr>
          <p:cNvPr id="9" name="Text 7"/>
          <p:cNvSpPr/>
          <p:nvPr/>
        </p:nvSpPr>
        <p:spPr>
          <a:xfrm>
            <a:off x="402336" y="1920240"/>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Commit triggers the workflow automatically</a:t>
            </a:r>
            <a:endParaRPr lang="en-US" sz="850" dirty="0"/>
          </a:p>
        </p:txBody>
      </p:sp>
      <p:sp>
        <p:nvSpPr>
          <p:cNvPr id="10" name="Shape 8"/>
          <p:cNvSpPr/>
          <p:nvPr/>
        </p:nvSpPr>
        <p:spPr>
          <a:xfrm>
            <a:off x="2505456" y="1115568"/>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1" name="Shape 9"/>
          <p:cNvSpPr/>
          <p:nvPr/>
        </p:nvSpPr>
        <p:spPr>
          <a:xfrm>
            <a:off x="2615184" y="1243584"/>
            <a:ext cx="411480" cy="411480"/>
          </a:xfrm>
          <a:prstGeom prst="ellipse">
            <a:avLst/>
          </a:prstGeom>
          <a:solidFill>
            <a:srgbClr val="065A82"/>
          </a:solidFill>
          <a:ln w="12700">
            <a:solidFill>
              <a:srgbClr val="0D9488"/>
            </a:solidFill>
            <a:prstDash val="solid"/>
          </a:ln>
        </p:spPr>
      </p:sp>
      <p:sp>
        <p:nvSpPr>
          <p:cNvPr id="12" name="Text 10"/>
          <p:cNvSpPr/>
          <p:nvPr/>
        </p:nvSpPr>
        <p:spPr>
          <a:xfrm>
            <a:off x="2615184" y="1243584"/>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2</a:t>
            </a:r>
            <a:endParaRPr lang="en-US" sz="1200" dirty="0"/>
          </a:p>
        </p:txBody>
      </p:sp>
      <p:sp>
        <p:nvSpPr>
          <p:cNvPr id="13" name="Text 11"/>
          <p:cNvSpPr/>
          <p:nvPr/>
        </p:nvSpPr>
        <p:spPr>
          <a:xfrm>
            <a:off x="3072384" y="1207008"/>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14" name="Text 12"/>
          <p:cNvSpPr/>
          <p:nvPr/>
        </p:nvSpPr>
        <p:spPr>
          <a:xfrm>
            <a:off x="2615184" y="1709928"/>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Install dependencies</a:t>
            </a:r>
            <a:endParaRPr lang="en-US" sz="1000" dirty="0"/>
          </a:p>
        </p:txBody>
      </p:sp>
      <p:sp>
        <p:nvSpPr>
          <p:cNvPr id="15" name="Text 13"/>
          <p:cNvSpPr/>
          <p:nvPr/>
        </p:nvSpPr>
        <p:spPr>
          <a:xfrm>
            <a:off x="2615184" y="1920240"/>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npm ci installs server packages from lock file</a:t>
            </a:r>
            <a:endParaRPr lang="en-US" sz="850" dirty="0"/>
          </a:p>
        </p:txBody>
      </p:sp>
      <p:sp>
        <p:nvSpPr>
          <p:cNvPr id="16" name="Shape 14"/>
          <p:cNvSpPr/>
          <p:nvPr/>
        </p:nvSpPr>
        <p:spPr>
          <a:xfrm>
            <a:off x="292608" y="2322576"/>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Shape 15"/>
          <p:cNvSpPr/>
          <p:nvPr/>
        </p:nvSpPr>
        <p:spPr>
          <a:xfrm>
            <a:off x="402336" y="2450592"/>
            <a:ext cx="411480" cy="411480"/>
          </a:xfrm>
          <a:prstGeom prst="ellipse">
            <a:avLst/>
          </a:prstGeom>
          <a:solidFill>
            <a:srgbClr val="065A82"/>
          </a:solidFill>
          <a:ln w="12700">
            <a:solidFill>
              <a:srgbClr val="0D9488"/>
            </a:solidFill>
            <a:prstDash val="solid"/>
          </a:ln>
        </p:spPr>
      </p:sp>
      <p:sp>
        <p:nvSpPr>
          <p:cNvPr id="18" name="Text 16"/>
          <p:cNvSpPr/>
          <p:nvPr/>
        </p:nvSpPr>
        <p:spPr>
          <a:xfrm>
            <a:off x="402336" y="2450592"/>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3</a:t>
            </a:r>
            <a:endParaRPr lang="en-US" sz="1200" dirty="0"/>
          </a:p>
        </p:txBody>
      </p:sp>
      <p:sp>
        <p:nvSpPr>
          <p:cNvPr id="19" name="Text 17"/>
          <p:cNvSpPr/>
          <p:nvPr/>
        </p:nvSpPr>
        <p:spPr>
          <a:xfrm>
            <a:off x="859536" y="2414016"/>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20" name="Text 18"/>
          <p:cNvSpPr/>
          <p:nvPr/>
        </p:nvSpPr>
        <p:spPr>
          <a:xfrm>
            <a:off x="402336" y="2916936"/>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Build React client</a:t>
            </a:r>
            <a:endParaRPr lang="en-US" sz="1000" dirty="0"/>
          </a:p>
        </p:txBody>
      </p:sp>
      <p:sp>
        <p:nvSpPr>
          <p:cNvPr id="21" name="Text 19"/>
          <p:cNvSpPr/>
          <p:nvPr/>
        </p:nvSpPr>
        <p:spPr>
          <a:xfrm>
            <a:off x="402336" y="3127248"/>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Vite compiles React. VITE_API_URL injected from Secrets</a:t>
            </a:r>
            <a:endParaRPr lang="en-US" sz="850" dirty="0"/>
          </a:p>
        </p:txBody>
      </p:sp>
      <p:sp>
        <p:nvSpPr>
          <p:cNvPr id="22" name="Shape 20"/>
          <p:cNvSpPr/>
          <p:nvPr/>
        </p:nvSpPr>
        <p:spPr>
          <a:xfrm>
            <a:off x="2505456" y="2322576"/>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3" name="Shape 21"/>
          <p:cNvSpPr/>
          <p:nvPr/>
        </p:nvSpPr>
        <p:spPr>
          <a:xfrm>
            <a:off x="2615184" y="2450592"/>
            <a:ext cx="411480" cy="411480"/>
          </a:xfrm>
          <a:prstGeom prst="ellipse">
            <a:avLst/>
          </a:prstGeom>
          <a:solidFill>
            <a:srgbClr val="065A82"/>
          </a:solidFill>
          <a:ln w="12700">
            <a:solidFill>
              <a:srgbClr val="0D9488"/>
            </a:solidFill>
            <a:prstDash val="solid"/>
          </a:ln>
        </p:spPr>
      </p:sp>
      <p:sp>
        <p:nvSpPr>
          <p:cNvPr id="24" name="Text 22"/>
          <p:cNvSpPr/>
          <p:nvPr/>
        </p:nvSpPr>
        <p:spPr>
          <a:xfrm>
            <a:off x="2615184" y="2450592"/>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4</a:t>
            </a:r>
            <a:endParaRPr lang="en-US" sz="1200" dirty="0"/>
          </a:p>
        </p:txBody>
      </p:sp>
      <p:sp>
        <p:nvSpPr>
          <p:cNvPr id="25" name="Text 23"/>
          <p:cNvSpPr/>
          <p:nvPr/>
        </p:nvSpPr>
        <p:spPr>
          <a:xfrm>
            <a:off x="3072384" y="2414016"/>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26" name="Text 24"/>
          <p:cNvSpPr/>
          <p:nvPr/>
        </p:nvSpPr>
        <p:spPr>
          <a:xfrm>
            <a:off x="2615184" y="2916936"/>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SSH into EC2</a:t>
            </a:r>
            <a:endParaRPr lang="en-US" sz="1000" dirty="0"/>
          </a:p>
        </p:txBody>
      </p:sp>
      <p:sp>
        <p:nvSpPr>
          <p:cNvPr id="27" name="Text 25"/>
          <p:cNvSpPr/>
          <p:nvPr/>
        </p:nvSpPr>
        <p:spPr>
          <a:xfrm>
            <a:off x="2615184" y="3127248"/>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appleboy/ssh-action uses EC2_SSH_KEY secret</a:t>
            </a:r>
            <a:endParaRPr lang="en-US" sz="850" dirty="0"/>
          </a:p>
        </p:txBody>
      </p:sp>
      <p:sp>
        <p:nvSpPr>
          <p:cNvPr id="28" name="Shape 26"/>
          <p:cNvSpPr/>
          <p:nvPr/>
        </p:nvSpPr>
        <p:spPr>
          <a:xfrm>
            <a:off x="292608" y="3529584"/>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9" name="Shape 27"/>
          <p:cNvSpPr/>
          <p:nvPr/>
        </p:nvSpPr>
        <p:spPr>
          <a:xfrm>
            <a:off x="402336" y="3657600"/>
            <a:ext cx="411480" cy="411480"/>
          </a:xfrm>
          <a:prstGeom prst="ellipse">
            <a:avLst/>
          </a:prstGeom>
          <a:solidFill>
            <a:srgbClr val="065A82"/>
          </a:solidFill>
          <a:ln w="12700">
            <a:solidFill>
              <a:srgbClr val="0D9488"/>
            </a:solidFill>
            <a:prstDash val="solid"/>
          </a:ln>
        </p:spPr>
      </p:sp>
      <p:sp>
        <p:nvSpPr>
          <p:cNvPr id="30" name="Text 28"/>
          <p:cNvSpPr/>
          <p:nvPr/>
        </p:nvSpPr>
        <p:spPr>
          <a:xfrm>
            <a:off x="402336" y="3657600"/>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5</a:t>
            </a:r>
            <a:endParaRPr lang="en-US" sz="1200" dirty="0"/>
          </a:p>
        </p:txBody>
      </p:sp>
      <p:sp>
        <p:nvSpPr>
          <p:cNvPr id="31" name="Text 29"/>
          <p:cNvSpPr/>
          <p:nvPr/>
        </p:nvSpPr>
        <p:spPr>
          <a:xfrm>
            <a:off x="859536" y="3621024"/>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32" name="Text 30"/>
          <p:cNvSpPr/>
          <p:nvPr/>
        </p:nvSpPr>
        <p:spPr>
          <a:xfrm>
            <a:off x="402336" y="4123944"/>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git reset --hard</a:t>
            </a:r>
            <a:endParaRPr lang="en-US" sz="1000" dirty="0"/>
          </a:p>
        </p:txBody>
      </p:sp>
      <p:sp>
        <p:nvSpPr>
          <p:cNvPr id="33" name="Text 31"/>
          <p:cNvSpPr/>
          <p:nvPr/>
        </p:nvSpPr>
        <p:spPr>
          <a:xfrm>
            <a:off x="402336" y="4334256"/>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Pulls latest code — prevents merge conflicts on server</a:t>
            </a:r>
            <a:endParaRPr lang="en-US" sz="850" dirty="0"/>
          </a:p>
        </p:txBody>
      </p:sp>
      <p:sp>
        <p:nvSpPr>
          <p:cNvPr id="34" name="Shape 32"/>
          <p:cNvSpPr/>
          <p:nvPr/>
        </p:nvSpPr>
        <p:spPr>
          <a:xfrm>
            <a:off x="2505456" y="3529584"/>
            <a:ext cx="2103120" cy="1078992"/>
          </a:xfrm>
          <a:prstGeom prst="roundRect">
            <a:avLst>
              <a:gd name="adj" fmla="val 678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5" name="Shape 33"/>
          <p:cNvSpPr/>
          <p:nvPr/>
        </p:nvSpPr>
        <p:spPr>
          <a:xfrm>
            <a:off x="2615184" y="3657600"/>
            <a:ext cx="411480" cy="411480"/>
          </a:xfrm>
          <a:prstGeom prst="ellipse">
            <a:avLst/>
          </a:prstGeom>
          <a:solidFill>
            <a:srgbClr val="065A82"/>
          </a:solidFill>
          <a:ln w="12700">
            <a:solidFill>
              <a:srgbClr val="0D9488"/>
            </a:solidFill>
            <a:prstDash val="solid"/>
          </a:ln>
        </p:spPr>
      </p:sp>
      <p:sp>
        <p:nvSpPr>
          <p:cNvPr id="36" name="Text 34"/>
          <p:cNvSpPr/>
          <p:nvPr/>
        </p:nvSpPr>
        <p:spPr>
          <a:xfrm>
            <a:off x="2615184" y="3657600"/>
            <a:ext cx="411480" cy="411480"/>
          </a:xfrm>
          <a:prstGeom prst="rect">
            <a:avLst/>
          </a:prstGeom>
          <a:noFill/>
          <a:ln/>
        </p:spPr>
        <p:txBody>
          <a:bodyPr wrap="square" lIns="0" tIns="0" rIns="0" bIns="0" rtlCol="0" anchor="ctr"/>
          <a:lstStyle/>
          <a:p>
            <a:pPr marL="0" indent="0" algn="ctr">
              <a:buNone/>
            </a:pPr>
            <a:r>
              <a:rPr lang="en-US" sz="1200" b="1" dirty="0">
                <a:solidFill>
                  <a:srgbClr val="5EEAD4"/>
                </a:solidFill>
                <a:latin typeface="Cambria" pitchFamily="34" charset="0"/>
                <a:ea typeface="Cambria" pitchFamily="34" charset="-122"/>
                <a:cs typeface="Cambria" pitchFamily="34" charset="-120"/>
              </a:rPr>
              <a:t>6</a:t>
            </a:r>
            <a:endParaRPr lang="en-US" sz="1200" dirty="0"/>
          </a:p>
        </p:txBody>
      </p:sp>
      <p:sp>
        <p:nvSpPr>
          <p:cNvPr id="37" name="Text 35"/>
          <p:cNvSpPr/>
          <p:nvPr/>
        </p:nvSpPr>
        <p:spPr>
          <a:xfrm>
            <a:off x="3072384" y="3621024"/>
            <a:ext cx="411480" cy="411480"/>
          </a:xfrm>
          <a:prstGeom prst="rect">
            <a:avLst/>
          </a:prstGeom>
          <a:noFill/>
          <a:ln/>
        </p:spPr>
        <p:txBody>
          <a:bodyPr wrap="square" lIns="0" tIns="0" rIns="0" bIns="0" rtlCol="0" anchor="ctr"/>
          <a:lstStyle/>
          <a:p>
            <a:pPr marL="0" indent="0" algn="l">
              <a:buNone/>
            </a:pPr>
            <a:r>
              <a:rPr lang="en-US" sz="1800" dirty="0">
                <a:solidFill>
                  <a:srgbClr val="000000"/>
                </a:solidFill>
              </a:rPr>
              <a:t>🚀</a:t>
            </a:r>
            <a:endParaRPr lang="en-US" sz="1800" dirty="0"/>
          </a:p>
        </p:txBody>
      </p:sp>
      <p:sp>
        <p:nvSpPr>
          <p:cNvPr id="38" name="Text 36"/>
          <p:cNvSpPr/>
          <p:nvPr/>
        </p:nvSpPr>
        <p:spPr>
          <a:xfrm>
            <a:off x="2615184" y="4123944"/>
            <a:ext cx="1883664" cy="256032"/>
          </a:xfrm>
          <a:prstGeom prst="rect">
            <a:avLst/>
          </a:prstGeom>
          <a:noFill/>
          <a:ln/>
        </p:spPr>
        <p:txBody>
          <a:bodyPr wrap="square" lIns="0" tIns="0" rIns="0" b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PM2 restart</a:t>
            </a:r>
            <a:endParaRPr lang="en-US" sz="1000" dirty="0"/>
          </a:p>
        </p:txBody>
      </p:sp>
      <p:sp>
        <p:nvSpPr>
          <p:cNvPr id="39" name="Text 37"/>
          <p:cNvSpPr/>
          <p:nvPr/>
        </p:nvSpPr>
        <p:spPr>
          <a:xfrm>
            <a:off x="2615184" y="4334256"/>
            <a:ext cx="1883664" cy="219456"/>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Node.js restarts with new code. App live in seconds</a:t>
            </a:r>
            <a:endParaRPr lang="en-US" sz="850" dirty="0"/>
          </a:p>
        </p:txBody>
      </p:sp>
      <p:sp>
        <p:nvSpPr>
          <p:cNvPr id="40" name="Shape 38"/>
          <p:cNvSpPr/>
          <p:nvPr/>
        </p:nvSpPr>
        <p:spPr>
          <a:xfrm>
            <a:off x="4754880" y="1078992"/>
            <a:ext cx="4114800" cy="3749040"/>
          </a:xfrm>
          <a:prstGeom prst="roundRect">
            <a:avLst>
              <a:gd name="adj" fmla="val 195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41" name="Text 39"/>
          <p:cNvSpPr/>
          <p:nvPr/>
        </p:nvSpPr>
        <p:spPr>
          <a:xfrm>
            <a:off x="4754880" y="1115568"/>
            <a:ext cx="4114800" cy="256032"/>
          </a:xfrm>
          <a:prstGeom prst="rect">
            <a:avLst/>
          </a:prstGeom>
          <a:noFill/>
          <a:ln/>
        </p:spPr>
        <p:txBody>
          <a:bodyPr wrap="square" lIns="0" tIns="0" rIns="0" bIns="0" rtlCol="0" anchor="ctr"/>
          <a:lstStyle/>
          <a:p>
            <a:pPr marL="0" indent="0" algn="ctr">
              <a:buNone/>
            </a:pPr>
            <a:r>
              <a:rPr lang="en-US" sz="900" b="1" dirty="0">
                <a:solidFill>
                  <a:srgbClr val="5EEAD4"/>
                </a:solidFill>
                <a:latin typeface="Calibri" pitchFamily="34" charset="0"/>
                <a:ea typeface="Calibri" pitchFamily="34" charset="-122"/>
                <a:cs typeface="Calibri" pitchFamily="34" charset="-120"/>
              </a:rPr>
              <a:t>✅ LIVE PIPELINE — BUILD #11</a:t>
            </a:r>
            <a:endParaRPr lang="en-US" sz="900" dirty="0"/>
          </a:p>
        </p:txBody>
      </p:sp>
      <p:pic>
        <p:nvPicPr>
          <p:cNvPr id="42" name="Image 0" descr="/home/claude/cicd_screenshot.jpeg"/>
          <p:cNvPicPr>
            <a:picLocks noChangeAspect="1"/>
          </p:cNvPicPr>
          <p:nvPr/>
        </p:nvPicPr>
        <p:blipFill>
          <a:blip r:embed="rId3"/>
          <a:stretch>
            <a:fillRect/>
          </a:stretch>
        </p:blipFill>
        <p:spPr>
          <a:xfrm>
            <a:off x="4828032" y="1389888"/>
            <a:ext cx="3968496" cy="3291840"/>
          </a:xfrm>
          <a:prstGeom prst="rect">
            <a:avLst/>
          </a:prstGeom>
        </p:spPr>
      </p:pic>
      <p:sp>
        <p:nvSpPr>
          <p:cNvPr id="43" name="Shape 40"/>
          <p:cNvSpPr/>
          <p:nvPr/>
        </p:nvSpPr>
        <p:spPr>
          <a:xfrm>
            <a:off x="320040" y="4754880"/>
            <a:ext cx="8503920" cy="292608"/>
          </a:xfrm>
          <a:prstGeom prst="roundRect">
            <a:avLst>
              <a:gd name="adj" fmla="val 25000"/>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44" name="Text 41"/>
          <p:cNvSpPr/>
          <p:nvPr/>
        </p:nvSpPr>
        <p:spPr>
          <a:xfrm>
            <a:off x="320040" y="4754880"/>
            <a:ext cx="8503920" cy="292608"/>
          </a:xfrm>
          <a:prstGeom prst="rect">
            <a:avLst/>
          </a:prstGeom>
          <a:noFill/>
          <a:ln/>
        </p:spPr>
        <p:txBody>
          <a:bodyPr wrap="square" lIns="0" tIns="0" rIns="0" bIns="0" rtlCol="0" anchor="ctr"/>
          <a:lstStyle/>
          <a:p>
            <a:pPr marL="0" indent="0" algn="ctr">
              <a:buNone/>
            </a:pPr>
            <a:r>
              <a:rPr lang="en-US" sz="1000" dirty="0">
                <a:solidFill>
                  <a:srgbClr val="5EEAD4"/>
                </a:solidFill>
                <a:latin typeface="Calibri" pitchFamily="34" charset="0"/>
                <a:ea typeface="Calibri" pitchFamily="34" charset="-122"/>
                <a:cs typeface="Calibri" pitchFamily="34" charset="-120"/>
              </a:rPr>
              <a:t>✅  All steps green  //  Build succeeded  //  Deployed in 51 seconds  //  Zero manual intervention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Live Application</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TechCrush Group 1 — CloudDrop live at d2q0tos3eezbrk.cloudfront.net — 15 files, 45.5MB stored</a:t>
            </a:r>
            <a:endParaRPr lang="en-US" sz="1200" dirty="0"/>
          </a:p>
        </p:txBody>
      </p:sp>
      <p:sp>
        <p:nvSpPr>
          <p:cNvPr id="4" name="Shape 2"/>
          <p:cNvSpPr/>
          <p:nvPr/>
        </p:nvSpPr>
        <p:spPr>
          <a:xfrm>
            <a:off x="292608" y="1078992"/>
            <a:ext cx="8558784" cy="3310128"/>
          </a:xfrm>
          <a:prstGeom prst="roundRect">
            <a:avLst>
              <a:gd name="adj" fmla="val 2210"/>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pic>
        <p:nvPicPr>
          <p:cNvPr id="5" name="Image 0" descr="/home/claude/app_screenshot.jpeg"/>
          <p:cNvPicPr>
            <a:picLocks noChangeAspect="1"/>
          </p:cNvPicPr>
          <p:nvPr/>
        </p:nvPicPr>
        <p:blipFill>
          <a:blip r:embed="rId3"/>
          <a:stretch>
            <a:fillRect/>
          </a:stretch>
        </p:blipFill>
        <p:spPr>
          <a:xfrm>
            <a:off x="365760" y="1152144"/>
            <a:ext cx="8412480" cy="3163824"/>
          </a:xfrm>
          <a:prstGeom prst="rect">
            <a:avLst/>
          </a:prstGeom>
        </p:spPr>
      </p:pic>
      <p:sp>
        <p:nvSpPr>
          <p:cNvPr id="6" name="Shape 3"/>
          <p:cNvSpPr/>
          <p:nvPr/>
        </p:nvSpPr>
        <p:spPr>
          <a:xfrm>
            <a:off x="292608" y="4498848"/>
            <a:ext cx="1664208" cy="548640"/>
          </a:xfrm>
          <a:prstGeom prst="roundRect">
            <a:avLst>
              <a:gd name="adj" fmla="val 13333"/>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7" name="Text 4"/>
          <p:cNvSpPr/>
          <p:nvPr/>
        </p:nvSpPr>
        <p:spPr>
          <a:xfrm>
            <a:off x="365760" y="4535424"/>
            <a:ext cx="292608"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8" name="Text 5"/>
          <p:cNvSpPr/>
          <p:nvPr/>
        </p:nvSpPr>
        <p:spPr>
          <a:xfrm>
            <a:off x="676656" y="4544568"/>
            <a:ext cx="1207008" cy="182880"/>
          </a:xfrm>
          <a:prstGeom prst="rect">
            <a:avLst/>
          </a:prstGeom>
          <a:noFill/>
          <a:ln/>
        </p:spPr>
        <p:txBody>
          <a:bodyPr wrap="square" lIns="0" tIns="0" rIns="0" bIns="0" rtlCol="0" anchor="ctr"/>
          <a:lstStyle/>
          <a:p>
            <a:pPr marL="0" indent="0" algn="l">
              <a:buNone/>
            </a:pPr>
            <a:r>
              <a:rPr lang="en-US" sz="750" dirty="0">
                <a:solidFill>
                  <a:srgbClr val="CBD5E1"/>
                </a:solidFill>
                <a:latin typeface="Calibri" pitchFamily="34" charset="0"/>
                <a:ea typeface="Calibri" pitchFamily="34" charset="-122"/>
                <a:cs typeface="Calibri" pitchFamily="34" charset="-120"/>
              </a:rPr>
              <a:t>Hosted On</a:t>
            </a:r>
            <a:endParaRPr lang="en-US" sz="750" dirty="0"/>
          </a:p>
        </p:txBody>
      </p:sp>
      <p:sp>
        <p:nvSpPr>
          <p:cNvPr id="9" name="Text 6"/>
          <p:cNvSpPr/>
          <p:nvPr/>
        </p:nvSpPr>
        <p:spPr>
          <a:xfrm>
            <a:off x="676656" y="4718304"/>
            <a:ext cx="1207008" cy="228600"/>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AWS CloudFront</a:t>
            </a:r>
            <a:endParaRPr lang="en-US" sz="900" dirty="0"/>
          </a:p>
        </p:txBody>
      </p:sp>
      <p:sp>
        <p:nvSpPr>
          <p:cNvPr id="10" name="Shape 7"/>
          <p:cNvSpPr/>
          <p:nvPr/>
        </p:nvSpPr>
        <p:spPr>
          <a:xfrm>
            <a:off x="2011680" y="4498848"/>
            <a:ext cx="1664208" cy="548640"/>
          </a:xfrm>
          <a:prstGeom prst="roundRect">
            <a:avLst>
              <a:gd name="adj" fmla="val 13333"/>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11" name="Text 8"/>
          <p:cNvSpPr/>
          <p:nvPr/>
        </p:nvSpPr>
        <p:spPr>
          <a:xfrm>
            <a:off x="2084832" y="4535424"/>
            <a:ext cx="292608"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2" name="Text 9"/>
          <p:cNvSpPr/>
          <p:nvPr/>
        </p:nvSpPr>
        <p:spPr>
          <a:xfrm>
            <a:off x="2395728" y="4544568"/>
            <a:ext cx="1207008" cy="182880"/>
          </a:xfrm>
          <a:prstGeom prst="rect">
            <a:avLst/>
          </a:prstGeom>
          <a:noFill/>
          <a:ln/>
        </p:spPr>
        <p:txBody>
          <a:bodyPr wrap="square" lIns="0" tIns="0" rIns="0" bIns="0" rtlCol="0" anchor="ctr"/>
          <a:lstStyle/>
          <a:p>
            <a:pPr marL="0" indent="0" algn="l">
              <a:buNone/>
            </a:pPr>
            <a:r>
              <a:rPr lang="en-US" sz="750" dirty="0">
                <a:solidFill>
                  <a:srgbClr val="CBD5E1"/>
                </a:solidFill>
                <a:latin typeface="Calibri" pitchFamily="34" charset="0"/>
                <a:ea typeface="Calibri" pitchFamily="34" charset="-122"/>
                <a:cs typeface="Calibri" pitchFamily="34" charset="-120"/>
              </a:rPr>
              <a:t>Total Files</a:t>
            </a:r>
            <a:endParaRPr lang="en-US" sz="750" dirty="0"/>
          </a:p>
        </p:txBody>
      </p:sp>
      <p:sp>
        <p:nvSpPr>
          <p:cNvPr id="13" name="Text 10"/>
          <p:cNvSpPr/>
          <p:nvPr/>
        </p:nvSpPr>
        <p:spPr>
          <a:xfrm>
            <a:off x="2395728" y="4718304"/>
            <a:ext cx="1207008" cy="228600"/>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15 Files</a:t>
            </a:r>
            <a:endParaRPr lang="en-US" sz="900" dirty="0"/>
          </a:p>
        </p:txBody>
      </p:sp>
      <p:sp>
        <p:nvSpPr>
          <p:cNvPr id="14" name="Shape 11"/>
          <p:cNvSpPr/>
          <p:nvPr/>
        </p:nvSpPr>
        <p:spPr>
          <a:xfrm>
            <a:off x="3730752" y="4498848"/>
            <a:ext cx="1664208" cy="548640"/>
          </a:xfrm>
          <a:prstGeom prst="roundRect">
            <a:avLst>
              <a:gd name="adj" fmla="val 13333"/>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15" name="Text 12"/>
          <p:cNvSpPr/>
          <p:nvPr/>
        </p:nvSpPr>
        <p:spPr>
          <a:xfrm>
            <a:off x="3803904" y="4535424"/>
            <a:ext cx="292608"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16" name="Text 13"/>
          <p:cNvSpPr/>
          <p:nvPr/>
        </p:nvSpPr>
        <p:spPr>
          <a:xfrm>
            <a:off x="4114800" y="4544568"/>
            <a:ext cx="1207008" cy="182880"/>
          </a:xfrm>
          <a:prstGeom prst="rect">
            <a:avLst/>
          </a:prstGeom>
          <a:noFill/>
          <a:ln/>
        </p:spPr>
        <p:txBody>
          <a:bodyPr wrap="square" lIns="0" tIns="0" rIns="0" bIns="0" rtlCol="0" anchor="ctr"/>
          <a:lstStyle/>
          <a:p>
            <a:pPr marL="0" indent="0" algn="l">
              <a:buNone/>
            </a:pPr>
            <a:r>
              <a:rPr lang="en-US" sz="750" dirty="0">
                <a:solidFill>
                  <a:srgbClr val="CBD5E1"/>
                </a:solidFill>
                <a:latin typeface="Calibri" pitchFamily="34" charset="0"/>
                <a:ea typeface="Calibri" pitchFamily="34" charset="-122"/>
                <a:cs typeface="Calibri" pitchFamily="34" charset="-120"/>
              </a:rPr>
              <a:t>Storage Used</a:t>
            </a:r>
            <a:endParaRPr lang="en-US" sz="750" dirty="0"/>
          </a:p>
        </p:txBody>
      </p:sp>
      <p:sp>
        <p:nvSpPr>
          <p:cNvPr id="17" name="Text 14"/>
          <p:cNvSpPr/>
          <p:nvPr/>
        </p:nvSpPr>
        <p:spPr>
          <a:xfrm>
            <a:off x="4114800" y="4718304"/>
            <a:ext cx="1207008" cy="228600"/>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45.5 MB</a:t>
            </a:r>
            <a:endParaRPr lang="en-US" sz="900" dirty="0"/>
          </a:p>
        </p:txBody>
      </p:sp>
      <p:sp>
        <p:nvSpPr>
          <p:cNvPr id="18" name="Shape 15"/>
          <p:cNvSpPr/>
          <p:nvPr/>
        </p:nvSpPr>
        <p:spPr>
          <a:xfrm>
            <a:off x="5449824" y="4498848"/>
            <a:ext cx="1664208" cy="548640"/>
          </a:xfrm>
          <a:prstGeom prst="roundRect">
            <a:avLst>
              <a:gd name="adj" fmla="val 13333"/>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19" name="Text 16"/>
          <p:cNvSpPr/>
          <p:nvPr/>
        </p:nvSpPr>
        <p:spPr>
          <a:xfrm>
            <a:off x="5522976" y="4535424"/>
            <a:ext cx="292608"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0" name="Text 17"/>
          <p:cNvSpPr/>
          <p:nvPr/>
        </p:nvSpPr>
        <p:spPr>
          <a:xfrm>
            <a:off x="5833872" y="4544568"/>
            <a:ext cx="1207008" cy="182880"/>
          </a:xfrm>
          <a:prstGeom prst="rect">
            <a:avLst/>
          </a:prstGeom>
          <a:noFill/>
          <a:ln/>
        </p:spPr>
        <p:txBody>
          <a:bodyPr wrap="square" lIns="0" tIns="0" rIns="0" bIns="0" rtlCol="0" anchor="ctr"/>
          <a:lstStyle/>
          <a:p>
            <a:pPr marL="0" indent="0" algn="l">
              <a:buNone/>
            </a:pPr>
            <a:r>
              <a:rPr lang="en-US" sz="750" dirty="0">
                <a:solidFill>
                  <a:srgbClr val="CBD5E1"/>
                </a:solidFill>
                <a:latin typeface="Calibri" pitchFamily="34" charset="0"/>
                <a:ea typeface="Calibri" pitchFamily="34" charset="-122"/>
                <a:cs typeface="Calibri" pitchFamily="34" charset="-120"/>
              </a:rPr>
              <a:t>Status</a:t>
            </a:r>
            <a:endParaRPr lang="en-US" sz="750" dirty="0"/>
          </a:p>
        </p:txBody>
      </p:sp>
      <p:sp>
        <p:nvSpPr>
          <p:cNvPr id="21" name="Text 18"/>
          <p:cNvSpPr/>
          <p:nvPr/>
        </p:nvSpPr>
        <p:spPr>
          <a:xfrm>
            <a:off x="5833872" y="4718304"/>
            <a:ext cx="1207008" cy="228600"/>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Cloud Connected</a:t>
            </a:r>
            <a:endParaRPr lang="en-US" sz="900" dirty="0"/>
          </a:p>
        </p:txBody>
      </p:sp>
      <p:sp>
        <p:nvSpPr>
          <p:cNvPr id="22" name="Shape 19"/>
          <p:cNvSpPr/>
          <p:nvPr/>
        </p:nvSpPr>
        <p:spPr>
          <a:xfrm>
            <a:off x="7168896" y="4498848"/>
            <a:ext cx="1664208" cy="548640"/>
          </a:xfrm>
          <a:prstGeom prst="roundRect">
            <a:avLst>
              <a:gd name="adj" fmla="val 13333"/>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23" name="Text 20"/>
          <p:cNvSpPr/>
          <p:nvPr/>
        </p:nvSpPr>
        <p:spPr>
          <a:xfrm>
            <a:off x="7242048" y="4535424"/>
            <a:ext cx="292608"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4" name="Text 21"/>
          <p:cNvSpPr/>
          <p:nvPr/>
        </p:nvSpPr>
        <p:spPr>
          <a:xfrm>
            <a:off x="7552944" y="4544568"/>
            <a:ext cx="1207008" cy="182880"/>
          </a:xfrm>
          <a:prstGeom prst="rect">
            <a:avLst/>
          </a:prstGeom>
          <a:noFill/>
          <a:ln/>
        </p:spPr>
        <p:txBody>
          <a:bodyPr wrap="square" lIns="0" tIns="0" rIns="0" bIns="0" rtlCol="0" anchor="ctr"/>
          <a:lstStyle/>
          <a:p>
            <a:pPr marL="0" indent="0" algn="l">
              <a:buNone/>
            </a:pPr>
            <a:r>
              <a:rPr lang="en-US" sz="750" dirty="0">
                <a:solidFill>
                  <a:srgbClr val="CBD5E1"/>
                </a:solidFill>
                <a:latin typeface="Calibri" pitchFamily="34" charset="0"/>
                <a:ea typeface="Calibri" pitchFamily="34" charset="-122"/>
                <a:cs typeface="Calibri" pitchFamily="34" charset="-120"/>
              </a:rPr>
              <a:t>Categories</a:t>
            </a:r>
            <a:endParaRPr lang="en-US" sz="750" dirty="0"/>
          </a:p>
        </p:txBody>
      </p:sp>
      <p:sp>
        <p:nvSpPr>
          <p:cNvPr id="25" name="Text 22"/>
          <p:cNvSpPr/>
          <p:nvPr/>
        </p:nvSpPr>
        <p:spPr>
          <a:xfrm>
            <a:off x="7552944" y="4718304"/>
            <a:ext cx="1207008" cy="228600"/>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Images, Video, Audio, Docs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Deployment Process</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Nine steps from zero to live application on AWS</a:t>
            </a:r>
            <a:endParaRPr lang="en-US" sz="1200" dirty="0"/>
          </a:p>
        </p:txBody>
      </p:sp>
      <p:sp>
        <p:nvSpPr>
          <p:cNvPr id="4" name="Shape 2"/>
          <p:cNvSpPr/>
          <p:nvPr/>
        </p:nvSpPr>
        <p:spPr>
          <a:xfrm>
            <a:off x="256032" y="111556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Text 3"/>
          <p:cNvSpPr/>
          <p:nvPr/>
        </p:nvSpPr>
        <p:spPr>
          <a:xfrm>
            <a:off x="347472" y="120700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01</a:t>
            </a:r>
            <a:endParaRPr lang="en-US" sz="2000" dirty="0"/>
          </a:p>
        </p:txBody>
      </p:sp>
      <p:sp>
        <p:nvSpPr>
          <p:cNvPr id="6" name="Shape 4"/>
          <p:cNvSpPr/>
          <p:nvPr/>
        </p:nvSpPr>
        <p:spPr>
          <a:xfrm>
            <a:off x="950976" y="1243584"/>
            <a:ext cx="27432" cy="411480"/>
          </a:xfrm>
          <a:prstGeom prst="rect">
            <a:avLst/>
          </a:prstGeom>
          <a:solidFill>
            <a:srgbClr val="065A82"/>
          </a:solidFill>
          <a:ln w="12700">
            <a:solidFill>
              <a:srgbClr val="065A82"/>
            </a:solidFill>
            <a:prstDash val="solid"/>
          </a:ln>
        </p:spPr>
      </p:sp>
      <p:sp>
        <p:nvSpPr>
          <p:cNvPr id="7" name="Text 5"/>
          <p:cNvSpPr/>
          <p:nvPr/>
        </p:nvSpPr>
        <p:spPr>
          <a:xfrm>
            <a:off x="1042416" y="120700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Launch EC2 Instance</a:t>
            </a:r>
            <a:endParaRPr lang="en-US" sz="1100" dirty="0"/>
          </a:p>
        </p:txBody>
      </p:sp>
      <p:sp>
        <p:nvSpPr>
          <p:cNvPr id="8" name="Text 6"/>
          <p:cNvSpPr/>
          <p:nvPr/>
        </p:nvSpPr>
        <p:spPr>
          <a:xfrm>
            <a:off x="1042416" y="149961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Ubuntu t2.micro. Key pair created. Security groups configured.</a:t>
            </a:r>
            <a:endParaRPr lang="en-US" sz="950" dirty="0"/>
          </a:p>
        </p:txBody>
      </p:sp>
      <p:sp>
        <p:nvSpPr>
          <p:cNvPr id="9" name="Shape 7"/>
          <p:cNvSpPr/>
          <p:nvPr/>
        </p:nvSpPr>
        <p:spPr>
          <a:xfrm>
            <a:off x="3246120" y="111556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0" name="Text 8"/>
          <p:cNvSpPr/>
          <p:nvPr/>
        </p:nvSpPr>
        <p:spPr>
          <a:xfrm>
            <a:off x="3337560" y="120700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02</a:t>
            </a:r>
            <a:endParaRPr lang="en-US" sz="2000" dirty="0"/>
          </a:p>
        </p:txBody>
      </p:sp>
      <p:sp>
        <p:nvSpPr>
          <p:cNvPr id="11" name="Shape 9"/>
          <p:cNvSpPr/>
          <p:nvPr/>
        </p:nvSpPr>
        <p:spPr>
          <a:xfrm>
            <a:off x="3941064" y="1243584"/>
            <a:ext cx="27432" cy="411480"/>
          </a:xfrm>
          <a:prstGeom prst="rect">
            <a:avLst/>
          </a:prstGeom>
          <a:solidFill>
            <a:srgbClr val="065A82"/>
          </a:solidFill>
          <a:ln w="12700">
            <a:solidFill>
              <a:srgbClr val="065A82"/>
            </a:solidFill>
            <a:prstDash val="solid"/>
          </a:ln>
        </p:spPr>
      </p:sp>
      <p:sp>
        <p:nvSpPr>
          <p:cNvPr id="12" name="Text 10"/>
          <p:cNvSpPr/>
          <p:nvPr/>
        </p:nvSpPr>
        <p:spPr>
          <a:xfrm>
            <a:off x="4032504" y="120700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Open Security Group Ports</a:t>
            </a:r>
            <a:endParaRPr lang="en-US" sz="1100" dirty="0"/>
          </a:p>
        </p:txBody>
      </p:sp>
      <p:sp>
        <p:nvSpPr>
          <p:cNvPr id="13" name="Text 11"/>
          <p:cNvSpPr/>
          <p:nvPr/>
        </p:nvSpPr>
        <p:spPr>
          <a:xfrm>
            <a:off x="4032504" y="149961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Port 22 (SSH), Port 80 (Nginx HTTP), Port 5000 (Node.js).</a:t>
            </a:r>
            <a:endParaRPr lang="en-US" sz="950" dirty="0"/>
          </a:p>
        </p:txBody>
      </p:sp>
      <p:sp>
        <p:nvSpPr>
          <p:cNvPr id="14" name="Shape 12"/>
          <p:cNvSpPr/>
          <p:nvPr/>
        </p:nvSpPr>
        <p:spPr>
          <a:xfrm>
            <a:off x="6236208" y="111556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5" name="Text 13"/>
          <p:cNvSpPr/>
          <p:nvPr/>
        </p:nvSpPr>
        <p:spPr>
          <a:xfrm>
            <a:off x="6327648" y="120700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03</a:t>
            </a:r>
            <a:endParaRPr lang="en-US" sz="2000" dirty="0"/>
          </a:p>
        </p:txBody>
      </p:sp>
      <p:sp>
        <p:nvSpPr>
          <p:cNvPr id="16" name="Shape 14"/>
          <p:cNvSpPr/>
          <p:nvPr/>
        </p:nvSpPr>
        <p:spPr>
          <a:xfrm>
            <a:off x="6931152" y="1243584"/>
            <a:ext cx="27432" cy="411480"/>
          </a:xfrm>
          <a:prstGeom prst="rect">
            <a:avLst/>
          </a:prstGeom>
          <a:solidFill>
            <a:srgbClr val="065A82"/>
          </a:solidFill>
          <a:ln w="12700">
            <a:solidFill>
              <a:srgbClr val="065A82"/>
            </a:solidFill>
            <a:prstDash val="solid"/>
          </a:ln>
        </p:spPr>
      </p:sp>
      <p:sp>
        <p:nvSpPr>
          <p:cNvPr id="17" name="Text 15"/>
          <p:cNvSpPr/>
          <p:nvPr/>
        </p:nvSpPr>
        <p:spPr>
          <a:xfrm>
            <a:off x="7022592" y="120700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Install Node.js + PM2</a:t>
            </a:r>
            <a:endParaRPr lang="en-US" sz="1100" dirty="0"/>
          </a:p>
        </p:txBody>
      </p:sp>
      <p:sp>
        <p:nvSpPr>
          <p:cNvPr id="18" name="Text 16"/>
          <p:cNvSpPr/>
          <p:nvPr/>
        </p:nvSpPr>
        <p:spPr>
          <a:xfrm>
            <a:off x="7022592" y="149961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Node.js 24 via NodeSource. PM2 installed globally for process management.</a:t>
            </a:r>
            <a:endParaRPr lang="en-US" sz="950" dirty="0"/>
          </a:p>
        </p:txBody>
      </p:sp>
      <p:sp>
        <p:nvSpPr>
          <p:cNvPr id="19" name="Shape 17"/>
          <p:cNvSpPr/>
          <p:nvPr/>
        </p:nvSpPr>
        <p:spPr>
          <a:xfrm>
            <a:off x="256032" y="235000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0" name="Text 18"/>
          <p:cNvSpPr/>
          <p:nvPr/>
        </p:nvSpPr>
        <p:spPr>
          <a:xfrm>
            <a:off x="347472" y="244144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04</a:t>
            </a:r>
            <a:endParaRPr lang="en-US" sz="2000" dirty="0"/>
          </a:p>
        </p:txBody>
      </p:sp>
      <p:sp>
        <p:nvSpPr>
          <p:cNvPr id="21" name="Shape 19"/>
          <p:cNvSpPr/>
          <p:nvPr/>
        </p:nvSpPr>
        <p:spPr>
          <a:xfrm>
            <a:off x="950976" y="2478024"/>
            <a:ext cx="27432" cy="411480"/>
          </a:xfrm>
          <a:prstGeom prst="rect">
            <a:avLst/>
          </a:prstGeom>
          <a:solidFill>
            <a:srgbClr val="065A82"/>
          </a:solidFill>
          <a:ln w="12700">
            <a:solidFill>
              <a:srgbClr val="065A82"/>
            </a:solidFill>
            <a:prstDash val="solid"/>
          </a:ln>
        </p:spPr>
      </p:sp>
      <p:sp>
        <p:nvSpPr>
          <p:cNvPr id="22" name="Text 20"/>
          <p:cNvSpPr/>
          <p:nvPr/>
        </p:nvSpPr>
        <p:spPr>
          <a:xfrm>
            <a:off x="1042416" y="244144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Create S3 Bucket</a:t>
            </a:r>
            <a:endParaRPr lang="en-US" sz="1100" dirty="0"/>
          </a:p>
        </p:txBody>
      </p:sp>
      <p:sp>
        <p:nvSpPr>
          <p:cNvPr id="23" name="Text 21"/>
          <p:cNvSpPr/>
          <p:nvPr/>
        </p:nvSpPr>
        <p:spPr>
          <a:xfrm>
            <a:off x="1042416" y="273405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Bucket policy configured. CORS set for CloudFront origin. 50MB limit.</a:t>
            </a:r>
            <a:endParaRPr lang="en-US" sz="950" dirty="0"/>
          </a:p>
        </p:txBody>
      </p:sp>
      <p:sp>
        <p:nvSpPr>
          <p:cNvPr id="24" name="Shape 22"/>
          <p:cNvSpPr/>
          <p:nvPr/>
        </p:nvSpPr>
        <p:spPr>
          <a:xfrm>
            <a:off x="3246120" y="235000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5" name="Text 23"/>
          <p:cNvSpPr/>
          <p:nvPr/>
        </p:nvSpPr>
        <p:spPr>
          <a:xfrm>
            <a:off x="3337560" y="244144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05</a:t>
            </a:r>
            <a:endParaRPr lang="en-US" sz="2000" dirty="0"/>
          </a:p>
        </p:txBody>
      </p:sp>
      <p:sp>
        <p:nvSpPr>
          <p:cNvPr id="26" name="Shape 24"/>
          <p:cNvSpPr/>
          <p:nvPr/>
        </p:nvSpPr>
        <p:spPr>
          <a:xfrm>
            <a:off x="3941064" y="2478024"/>
            <a:ext cx="27432" cy="411480"/>
          </a:xfrm>
          <a:prstGeom prst="rect">
            <a:avLst/>
          </a:prstGeom>
          <a:solidFill>
            <a:srgbClr val="065A82"/>
          </a:solidFill>
          <a:ln w="12700">
            <a:solidFill>
              <a:srgbClr val="065A82"/>
            </a:solidFill>
            <a:prstDash val="solid"/>
          </a:ln>
        </p:spPr>
      </p:sp>
      <p:sp>
        <p:nvSpPr>
          <p:cNvPr id="27" name="Text 25"/>
          <p:cNvSpPr/>
          <p:nvPr/>
        </p:nvSpPr>
        <p:spPr>
          <a:xfrm>
            <a:off x="4032504" y="244144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Create PostgreSQL RDS</a:t>
            </a:r>
            <a:endParaRPr lang="en-US" sz="1100" dirty="0"/>
          </a:p>
        </p:txBody>
      </p:sp>
      <p:sp>
        <p:nvSpPr>
          <p:cNvPr id="28" name="Text 26"/>
          <p:cNvSpPr/>
          <p:nvPr/>
        </p:nvSpPr>
        <p:spPr>
          <a:xfrm>
            <a:off x="4032504" y="273405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RDS instance. Security group allows EC2 on Port 5432 only.</a:t>
            </a:r>
            <a:endParaRPr lang="en-US" sz="950" dirty="0"/>
          </a:p>
        </p:txBody>
      </p:sp>
      <p:sp>
        <p:nvSpPr>
          <p:cNvPr id="29" name="Shape 27"/>
          <p:cNvSpPr/>
          <p:nvPr/>
        </p:nvSpPr>
        <p:spPr>
          <a:xfrm>
            <a:off x="6236208" y="235000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0" name="Text 28"/>
          <p:cNvSpPr/>
          <p:nvPr/>
        </p:nvSpPr>
        <p:spPr>
          <a:xfrm>
            <a:off x="6327648" y="244144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06</a:t>
            </a:r>
            <a:endParaRPr lang="en-US" sz="2000" dirty="0"/>
          </a:p>
        </p:txBody>
      </p:sp>
      <p:sp>
        <p:nvSpPr>
          <p:cNvPr id="31" name="Shape 29"/>
          <p:cNvSpPr/>
          <p:nvPr/>
        </p:nvSpPr>
        <p:spPr>
          <a:xfrm>
            <a:off x="6931152" y="2478024"/>
            <a:ext cx="27432" cy="411480"/>
          </a:xfrm>
          <a:prstGeom prst="rect">
            <a:avLst/>
          </a:prstGeom>
          <a:solidFill>
            <a:srgbClr val="065A82"/>
          </a:solidFill>
          <a:ln w="12700">
            <a:solidFill>
              <a:srgbClr val="065A82"/>
            </a:solidFill>
            <a:prstDash val="solid"/>
          </a:ln>
        </p:spPr>
      </p:sp>
      <p:sp>
        <p:nvSpPr>
          <p:cNvPr id="32" name="Text 30"/>
          <p:cNvSpPr/>
          <p:nvPr/>
        </p:nvSpPr>
        <p:spPr>
          <a:xfrm>
            <a:off x="7022592" y="244144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Setup CloudFront + WAF</a:t>
            </a:r>
            <a:endParaRPr lang="en-US" sz="1100" dirty="0"/>
          </a:p>
        </p:txBody>
      </p:sp>
      <p:sp>
        <p:nvSpPr>
          <p:cNvPr id="33" name="Text 31"/>
          <p:cNvSpPr/>
          <p:nvPr/>
        </p:nvSpPr>
        <p:spPr>
          <a:xfrm>
            <a:off x="7022592" y="273405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CloudFront distribution with EC2 as custom origin. WAF configured for file uploads.</a:t>
            </a:r>
            <a:endParaRPr lang="en-US" sz="950" dirty="0"/>
          </a:p>
        </p:txBody>
      </p:sp>
      <p:sp>
        <p:nvSpPr>
          <p:cNvPr id="34" name="Shape 32"/>
          <p:cNvSpPr/>
          <p:nvPr/>
        </p:nvSpPr>
        <p:spPr>
          <a:xfrm>
            <a:off x="256032" y="358444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5" name="Text 33"/>
          <p:cNvSpPr/>
          <p:nvPr/>
        </p:nvSpPr>
        <p:spPr>
          <a:xfrm>
            <a:off x="347472" y="367588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07</a:t>
            </a:r>
            <a:endParaRPr lang="en-US" sz="2000" dirty="0"/>
          </a:p>
        </p:txBody>
      </p:sp>
      <p:sp>
        <p:nvSpPr>
          <p:cNvPr id="36" name="Shape 34"/>
          <p:cNvSpPr/>
          <p:nvPr/>
        </p:nvSpPr>
        <p:spPr>
          <a:xfrm>
            <a:off x="950976" y="3712464"/>
            <a:ext cx="27432" cy="411480"/>
          </a:xfrm>
          <a:prstGeom prst="rect">
            <a:avLst/>
          </a:prstGeom>
          <a:solidFill>
            <a:srgbClr val="065A82"/>
          </a:solidFill>
          <a:ln w="12700">
            <a:solidFill>
              <a:srgbClr val="065A82"/>
            </a:solidFill>
            <a:prstDash val="solid"/>
          </a:ln>
        </p:spPr>
      </p:sp>
      <p:sp>
        <p:nvSpPr>
          <p:cNvPr id="37" name="Text 35"/>
          <p:cNvSpPr/>
          <p:nvPr/>
        </p:nvSpPr>
        <p:spPr>
          <a:xfrm>
            <a:off x="1042416" y="367588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Configure Environment Vars</a:t>
            </a:r>
            <a:endParaRPr lang="en-US" sz="1100" dirty="0"/>
          </a:p>
        </p:txBody>
      </p:sp>
      <p:sp>
        <p:nvSpPr>
          <p:cNvPr id="38" name="Text 36"/>
          <p:cNvSpPr/>
          <p:nvPr/>
        </p:nvSpPr>
        <p:spPr>
          <a:xfrm>
            <a:off x="1042416" y="396849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server/.env created — AWS keys, DATABASE_URL, S3_BUCKET_NAME, CLIENT_URL.</a:t>
            </a:r>
            <a:endParaRPr lang="en-US" sz="950" dirty="0"/>
          </a:p>
        </p:txBody>
      </p:sp>
      <p:sp>
        <p:nvSpPr>
          <p:cNvPr id="39" name="Shape 37"/>
          <p:cNvSpPr/>
          <p:nvPr/>
        </p:nvSpPr>
        <p:spPr>
          <a:xfrm>
            <a:off x="3246120" y="358444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40" name="Text 38"/>
          <p:cNvSpPr/>
          <p:nvPr/>
        </p:nvSpPr>
        <p:spPr>
          <a:xfrm>
            <a:off x="3337560" y="367588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08</a:t>
            </a:r>
            <a:endParaRPr lang="en-US" sz="2000" dirty="0"/>
          </a:p>
        </p:txBody>
      </p:sp>
      <p:sp>
        <p:nvSpPr>
          <p:cNvPr id="41" name="Shape 39"/>
          <p:cNvSpPr/>
          <p:nvPr/>
        </p:nvSpPr>
        <p:spPr>
          <a:xfrm>
            <a:off x="3941064" y="3712464"/>
            <a:ext cx="27432" cy="411480"/>
          </a:xfrm>
          <a:prstGeom prst="rect">
            <a:avLst/>
          </a:prstGeom>
          <a:solidFill>
            <a:srgbClr val="065A82"/>
          </a:solidFill>
          <a:ln w="12700">
            <a:solidFill>
              <a:srgbClr val="065A82"/>
            </a:solidFill>
            <a:prstDash val="solid"/>
          </a:ln>
        </p:spPr>
      </p:sp>
      <p:sp>
        <p:nvSpPr>
          <p:cNvPr id="42" name="Text 40"/>
          <p:cNvSpPr/>
          <p:nvPr/>
        </p:nvSpPr>
        <p:spPr>
          <a:xfrm>
            <a:off x="4032504" y="367588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Configure GitHub Actions</a:t>
            </a:r>
            <a:endParaRPr lang="en-US" sz="1100" dirty="0"/>
          </a:p>
        </p:txBody>
      </p:sp>
      <p:sp>
        <p:nvSpPr>
          <p:cNvPr id="43" name="Text 41"/>
          <p:cNvSpPr/>
          <p:nvPr/>
        </p:nvSpPr>
        <p:spPr>
          <a:xfrm>
            <a:off x="4032504" y="396849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EC2_HOST, EC2_USER, EC2_SSH_KEY, VITE_API_URL added to GitHub Secrets.</a:t>
            </a:r>
            <a:endParaRPr lang="en-US" sz="950" dirty="0"/>
          </a:p>
        </p:txBody>
      </p:sp>
      <p:sp>
        <p:nvSpPr>
          <p:cNvPr id="44" name="Shape 42"/>
          <p:cNvSpPr/>
          <p:nvPr/>
        </p:nvSpPr>
        <p:spPr>
          <a:xfrm>
            <a:off x="6236208" y="3584448"/>
            <a:ext cx="2852928" cy="1097280"/>
          </a:xfrm>
          <a:prstGeom prst="roundRect">
            <a:avLst>
              <a:gd name="adj" fmla="val 666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45" name="Text 43"/>
          <p:cNvSpPr/>
          <p:nvPr/>
        </p:nvSpPr>
        <p:spPr>
          <a:xfrm>
            <a:off x="6327648" y="3675888"/>
            <a:ext cx="566928" cy="502920"/>
          </a:xfrm>
          <a:prstGeom prst="rect">
            <a:avLst/>
          </a:prstGeom>
          <a:noFill/>
          <a:ln/>
        </p:spPr>
        <p:txBody>
          <a:bodyPr wrap="square" lIns="0" tIns="0" rIns="0" bIns="0" rtlCol="0" anchor="ctr"/>
          <a:lstStyle/>
          <a:p>
            <a:pPr marL="0" indent="0" algn="ctr">
              <a:buNone/>
            </a:pPr>
            <a:r>
              <a:rPr lang="en-US" sz="2000" b="1" dirty="0">
                <a:solidFill>
                  <a:srgbClr val="0D9488"/>
                </a:solidFill>
                <a:latin typeface="Cambria" pitchFamily="34" charset="0"/>
                <a:ea typeface="Cambria" pitchFamily="34" charset="-122"/>
                <a:cs typeface="Cambria" pitchFamily="34" charset="-120"/>
              </a:rPr>
              <a:t>09</a:t>
            </a:r>
            <a:endParaRPr lang="en-US" sz="2000" dirty="0"/>
          </a:p>
        </p:txBody>
      </p:sp>
      <p:sp>
        <p:nvSpPr>
          <p:cNvPr id="46" name="Shape 44"/>
          <p:cNvSpPr/>
          <p:nvPr/>
        </p:nvSpPr>
        <p:spPr>
          <a:xfrm>
            <a:off x="6931152" y="3712464"/>
            <a:ext cx="27432" cy="411480"/>
          </a:xfrm>
          <a:prstGeom prst="rect">
            <a:avLst/>
          </a:prstGeom>
          <a:solidFill>
            <a:srgbClr val="065A82"/>
          </a:solidFill>
          <a:ln w="12700">
            <a:solidFill>
              <a:srgbClr val="065A82"/>
            </a:solidFill>
            <a:prstDash val="solid"/>
          </a:ln>
        </p:spPr>
      </p:sp>
      <p:sp>
        <p:nvSpPr>
          <p:cNvPr id="47" name="Text 45"/>
          <p:cNvSpPr/>
          <p:nvPr/>
        </p:nvSpPr>
        <p:spPr>
          <a:xfrm>
            <a:off x="7022592" y="3675888"/>
            <a:ext cx="1965960" cy="2743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Deploy + Test</a:t>
            </a:r>
            <a:endParaRPr lang="en-US" sz="1100" dirty="0"/>
          </a:p>
        </p:txBody>
      </p:sp>
      <p:sp>
        <p:nvSpPr>
          <p:cNvPr id="48" name="Text 46"/>
          <p:cNvSpPr/>
          <p:nvPr/>
        </p:nvSpPr>
        <p:spPr>
          <a:xfrm>
            <a:off x="7022592" y="3968496"/>
            <a:ext cx="1965960" cy="594360"/>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npm install, Vite build, PM2 start. Upload, download, delete all tested.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Challenges &amp; Solutions</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Four real technical problems encountered and resolved — documented in the README</a:t>
            </a:r>
            <a:endParaRPr lang="en-US" sz="1200" dirty="0"/>
          </a:p>
        </p:txBody>
      </p:sp>
      <p:sp>
        <p:nvSpPr>
          <p:cNvPr id="4" name="Shape 2"/>
          <p:cNvSpPr/>
          <p:nvPr/>
        </p:nvSpPr>
        <p:spPr>
          <a:xfrm>
            <a:off x="292608" y="111556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Shape 3"/>
          <p:cNvSpPr/>
          <p:nvPr/>
        </p:nvSpPr>
        <p:spPr>
          <a:xfrm>
            <a:off x="420624" y="1207008"/>
            <a:ext cx="274320" cy="1554480"/>
          </a:xfrm>
          <a:prstGeom prst="roundRect">
            <a:avLst>
              <a:gd name="adj" fmla="val 13333"/>
            </a:avLst>
          </a:prstGeom>
          <a:solidFill>
            <a:srgbClr val="F59E0B"/>
          </a:solidFill>
          <a:ln w="12700">
            <a:solidFill>
              <a:srgbClr val="F59E0B"/>
            </a:solidFill>
            <a:prstDash val="solid"/>
          </a:ln>
        </p:spPr>
      </p:sp>
      <p:sp>
        <p:nvSpPr>
          <p:cNvPr id="6" name="Text 4"/>
          <p:cNvSpPr/>
          <p:nvPr/>
        </p:nvSpPr>
        <p:spPr>
          <a:xfrm>
            <a:off x="795528" y="1207008"/>
            <a:ext cx="36576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S3 Signature Mismatch on Uploads</a:t>
            </a:r>
            <a:endParaRPr lang="en-US" sz="1100" dirty="0"/>
          </a:p>
        </p:txBody>
      </p:sp>
      <p:sp>
        <p:nvSpPr>
          <p:cNvPr id="7" name="Text 5"/>
          <p:cNvSpPr/>
          <p:nvPr/>
        </p:nvSpPr>
        <p:spPr>
          <a:xfrm>
            <a:off x="795528" y="1554480"/>
            <a:ext cx="822960" cy="237744"/>
          </a:xfrm>
          <a:prstGeom prst="rect">
            <a:avLst/>
          </a:prstGeom>
          <a:noFill/>
          <a:ln/>
        </p:spPr>
        <p:txBody>
          <a:bodyPr wrap="square" lIns="0" tIns="0" rIns="0" bIns="0" rtlCol="0" anchor="ctr"/>
          <a:lstStyle/>
          <a:p>
            <a:pPr marL="0" indent="0" algn="l">
              <a:buNone/>
            </a:pPr>
            <a:r>
              <a:rPr lang="en-US" sz="900" b="1" dirty="0">
                <a:solidFill>
                  <a:srgbClr val="F59E0B"/>
                </a:solidFill>
                <a:latin typeface="Calibri" pitchFamily="34" charset="0"/>
                <a:ea typeface="Calibri" pitchFamily="34" charset="-122"/>
                <a:cs typeface="Calibri" pitchFamily="34" charset="-120"/>
              </a:rPr>
              <a:t>Problem:</a:t>
            </a:r>
            <a:endParaRPr lang="en-US" sz="900" dirty="0"/>
          </a:p>
        </p:txBody>
      </p:sp>
      <p:sp>
        <p:nvSpPr>
          <p:cNvPr id="8" name="Text 6"/>
          <p:cNvSpPr/>
          <p:nvPr/>
        </p:nvSpPr>
        <p:spPr>
          <a:xfrm>
            <a:off x="1645920" y="1554480"/>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Files with special characters or Unicode in filenames failed with 'signature does not match' AWS error.</a:t>
            </a:r>
            <a:endParaRPr lang="en-US" sz="850" dirty="0"/>
          </a:p>
        </p:txBody>
      </p:sp>
      <p:sp>
        <p:nvSpPr>
          <p:cNvPr id="9" name="Text 7"/>
          <p:cNvSpPr/>
          <p:nvPr/>
        </p:nvSpPr>
        <p:spPr>
          <a:xfrm>
            <a:off x="795528" y="1920240"/>
            <a:ext cx="822960" cy="237744"/>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Fix:</a:t>
            </a:r>
            <a:endParaRPr lang="en-US" sz="900" dirty="0"/>
          </a:p>
        </p:txBody>
      </p:sp>
      <p:sp>
        <p:nvSpPr>
          <p:cNvPr id="10" name="Text 8"/>
          <p:cNvSpPr/>
          <p:nvPr/>
        </p:nvSpPr>
        <p:spPr>
          <a:xfrm>
            <a:off x="1645920" y="1920240"/>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Added encodeURIComponent() to metadata in uploadMiddleware.js — ensures only safe ASCII in AWS Signature V4 headers.</a:t>
            </a:r>
            <a:endParaRPr lang="en-US" sz="850" dirty="0"/>
          </a:p>
        </p:txBody>
      </p:sp>
      <p:sp>
        <p:nvSpPr>
          <p:cNvPr id="11" name="Text 9"/>
          <p:cNvSpPr/>
          <p:nvPr/>
        </p:nvSpPr>
        <p:spPr>
          <a:xfrm>
            <a:off x="795528" y="2340864"/>
            <a:ext cx="822960" cy="237744"/>
          </a:xfrm>
          <a:prstGeom prst="rect">
            <a:avLst/>
          </a:prstGeom>
          <a:noFill/>
          <a:ln/>
        </p:spPr>
        <p:txBody>
          <a:bodyPr wrap="square" lIns="0" tIns="0" rIns="0" bIns="0" rtlCol="0" anchor="ctr"/>
          <a:lstStyle/>
          <a:p>
            <a:pPr marL="0" indent="0" algn="l">
              <a:buNone/>
            </a:pPr>
            <a:r>
              <a:rPr lang="en-US" sz="900" b="1" dirty="0">
                <a:solidFill>
                  <a:srgbClr val="0D9488"/>
                </a:solidFill>
                <a:latin typeface="Calibri" pitchFamily="34" charset="0"/>
                <a:ea typeface="Calibri" pitchFamily="34" charset="-122"/>
                <a:cs typeface="Calibri" pitchFamily="34" charset="-120"/>
              </a:rPr>
              <a:t>Lesson:</a:t>
            </a:r>
            <a:endParaRPr lang="en-US" sz="900" dirty="0"/>
          </a:p>
        </p:txBody>
      </p:sp>
      <p:sp>
        <p:nvSpPr>
          <p:cNvPr id="12" name="Text 10"/>
          <p:cNvSpPr/>
          <p:nvPr/>
        </p:nvSpPr>
        <p:spPr>
          <a:xfrm>
            <a:off x="1645920" y="2340864"/>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AWS Signature V4 is sensitive to header encoding. Always URL-encode metadata values containing filenames.</a:t>
            </a:r>
            <a:endParaRPr lang="en-US" sz="850" dirty="0"/>
          </a:p>
        </p:txBody>
      </p:sp>
      <p:sp>
        <p:nvSpPr>
          <p:cNvPr id="13" name="Shape 11"/>
          <p:cNvSpPr/>
          <p:nvPr/>
        </p:nvSpPr>
        <p:spPr>
          <a:xfrm>
            <a:off x="4709160" y="1115568"/>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4" name="Shape 12"/>
          <p:cNvSpPr/>
          <p:nvPr/>
        </p:nvSpPr>
        <p:spPr>
          <a:xfrm>
            <a:off x="4837176" y="1207008"/>
            <a:ext cx="274320" cy="1554480"/>
          </a:xfrm>
          <a:prstGeom prst="roundRect">
            <a:avLst>
              <a:gd name="adj" fmla="val 13333"/>
            </a:avLst>
          </a:prstGeom>
          <a:solidFill>
            <a:srgbClr val="DC2626"/>
          </a:solidFill>
          <a:ln w="12700">
            <a:solidFill>
              <a:srgbClr val="DC2626"/>
            </a:solidFill>
            <a:prstDash val="solid"/>
          </a:ln>
        </p:spPr>
      </p:sp>
      <p:sp>
        <p:nvSpPr>
          <p:cNvPr id="15" name="Text 13"/>
          <p:cNvSpPr/>
          <p:nvPr/>
        </p:nvSpPr>
        <p:spPr>
          <a:xfrm>
            <a:off x="5212080" y="1207008"/>
            <a:ext cx="36576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CORS Block on Remote Devices</a:t>
            </a:r>
            <a:endParaRPr lang="en-US" sz="1100" dirty="0"/>
          </a:p>
        </p:txBody>
      </p:sp>
      <p:sp>
        <p:nvSpPr>
          <p:cNvPr id="16" name="Text 14"/>
          <p:cNvSpPr/>
          <p:nvPr/>
        </p:nvSpPr>
        <p:spPr>
          <a:xfrm>
            <a:off x="5212080" y="1554480"/>
            <a:ext cx="822960" cy="237744"/>
          </a:xfrm>
          <a:prstGeom prst="rect">
            <a:avLst/>
          </a:prstGeom>
          <a:noFill/>
          <a:ln/>
        </p:spPr>
        <p:txBody>
          <a:bodyPr wrap="square" lIns="0" tIns="0" rIns="0" bIns="0" rtlCol="0" anchor="ctr"/>
          <a:lstStyle/>
          <a:p>
            <a:pPr marL="0" indent="0" algn="l">
              <a:buNone/>
            </a:pPr>
            <a:r>
              <a:rPr lang="en-US" sz="900" b="1" dirty="0">
                <a:solidFill>
                  <a:srgbClr val="F59E0B"/>
                </a:solidFill>
                <a:latin typeface="Calibri" pitchFamily="34" charset="0"/>
                <a:ea typeface="Calibri" pitchFamily="34" charset="-122"/>
                <a:cs typeface="Calibri" pitchFamily="34" charset="-120"/>
              </a:rPr>
              <a:t>Problem:</a:t>
            </a:r>
            <a:endParaRPr lang="en-US" sz="900" dirty="0"/>
          </a:p>
        </p:txBody>
      </p:sp>
      <p:sp>
        <p:nvSpPr>
          <p:cNvPr id="17" name="Text 15"/>
          <p:cNvSpPr/>
          <p:nvPr/>
        </p:nvSpPr>
        <p:spPr>
          <a:xfrm>
            <a:off x="6062472" y="1554480"/>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App worked on localhost but blocked requests from EC2 public IP and other devices — CORS errors in browser.</a:t>
            </a:r>
            <a:endParaRPr lang="en-US" sz="850" dirty="0"/>
          </a:p>
        </p:txBody>
      </p:sp>
      <p:sp>
        <p:nvSpPr>
          <p:cNvPr id="18" name="Text 16"/>
          <p:cNvSpPr/>
          <p:nvPr/>
        </p:nvSpPr>
        <p:spPr>
          <a:xfrm>
            <a:off x="5212080" y="1920240"/>
            <a:ext cx="822960" cy="237744"/>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Fix:</a:t>
            </a:r>
            <a:endParaRPr lang="en-US" sz="900" dirty="0"/>
          </a:p>
        </p:txBody>
      </p:sp>
      <p:sp>
        <p:nvSpPr>
          <p:cNvPr id="19" name="Text 17"/>
          <p:cNvSpPr/>
          <p:nvPr/>
        </p:nvSpPr>
        <p:spPr>
          <a:xfrm>
            <a:off x="6062472" y="1920240"/>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Compiled React with relative /api path. Updated Express CORS to dynamically match Host header — covers EC2, CloudFront, and custom domains.</a:t>
            </a:r>
            <a:endParaRPr lang="en-US" sz="850" dirty="0"/>
          </a:p>
        </p:txBody>
      </p:sp>
      <p:sp>
        <p:nvSpPr>
          <p:cNvPr id="20" name="Text 18"/>
          <p:cNvSpPr/>
          <p:nvPr/>
        </p:nvSpPr>
        <p:spPr>
          <a:xfrm>
            <a:off x="5212080" y="2340864"/>
            <a:ext cx="822960" cy="237744"/>
          </a:xfrm>
          <a:prstGeom prst="rect">
            <a:avLst/>
          </a:prstGeom>
          <a:noFill/>
          <a:ln/>
        </p:spPr>
        <p:txBody>
          <a:bodyPr wrap="square" lIns="0" tIns="0" rIns="0" bIns="0" rtlCol="0" anchor="ctr"/>
          <a:lstStyle/>
          <a:p>
            <a:pPr marL="0" indent="0" algn="l">
              <a:buNone/>
            </a:pPr>
            <a:r>
              <a:rPr lang="en-US" sz="900" b="1" dirty="0">
                <a:solidFill>
                  <a:srgbClr val="0D9488"/>
                </a:solidFill>
                <a:latin typeface="Calibri" pitchFamily="34" charset="0"/>
                <a:ea typeface="Calibri" pitchFamily="34" charset="-122"/>
                <a:cs typeface="Calibri" pitchFamily="34" charset="-120"/>
              </a:rPr>
              <a:t>Lesson:</a:t>
            </a:r>
            <a:endParaRPr lang="en-US" sz="900" dirty="0"/>
          </a:p>
        </p:txBody>
      </p:sp>
      <p:sp>
        <p:nvSpPr>
          <p:cNvPr id="21" name="Text 19"/>
          <p:cNvSpPr/>
          <p:nvPr/>
        </p:nvSpPr>
        <p:spPr>
          <a:xfrm>
            <a:off x="6062472" y="2340864"/>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Never hardcode localhost URLs. Use relative API paths and dynamic CORS validation for multi-environment deployments.</a:t>
            </a:r>
            <a:endParaRPr lang="en-US" sz="850" dirty="0"/>
          </a:p>
        </p:txBody>
      </p:sp>
      <p:sp>
        <p:nvSpPr>
          <p:cNvPr id="22" name="Shape 20"/>
          <p:cNvSpPr/>
          <p:nvPr/>
        </p:nvSpPr>
        <p:spPr>
          <a:xfrm>
            <a:off x="292608" y="3017520"/>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3" name="Shape 21"/>
          <p:cNvSpPr/>
          <p:nvPr/>
        </p:nvSpPr>
        <p:spPr>
          <a:xfrm>
            <a:off x="420624" y="3108960"/>
            <a:ext cx="274320" cy="1554480"/>
          </a:xfrm>
          <a:prstGeom prst="roundRect">
            <a:avLst>
              <a:gd name="adj" fmla="val 13333"/>
            </a:avLst>
          </a:prstGeom>
          <a:solidFill>
            <a:srgbClr val="7C3AED"/>
          </a:solidFill>
          <a:ln w="12700">
            <a:solidFill>
              <a:srgbClr val="7C3AED"/>
            </a:solidFill>
            <a:prstDash val="solid"/>
          </a:ln>
        </p:spPr>
      </p:sp>
      <p:sp>
        <p:nvSpPr>
          <p:cNvPr id="24" name="Text 22"/>
          <p:cNvSpPr/>
          <p:nvPr/>
        </p:nvSpPr>
        <p:spPr>
          <a:xfrm>
            <a:off x="795528" y="3108960"/>
            <a:ext cx="36576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Express Wildcard Crash on Node 24</a:t>
            </a:r>
            <a:endParaRPr lang="en-US" sz="1100" dirty="0"/>
          </a:p>
        </p:txBody>
      </p:sp>
      <p:sp>
        <p:nvSpPr>
          <p:cNvPr id="25" name="Text 23"/>
          <p:cNvSpPr/>
          <p:nvPr/>
        </p:nvSpPr>
        <p:spPr>
          <a:xfrm>
            <a:off x="795528" y="3456432"/>
            <a:ext cx="822960" cy="237744"/>
          </a:xfrm>
          <a:prstGeom prst="rect">
            <a:avLst/>
          </a:prstGeom>
          <a:noFill/>
          <a:ln/>
        </p:spPr>
        <p:txBody>
          <a:bodyPr wrap="square" lIns="0" tIns="0" rIns="0" bIns="0" rtlCol="0" anchor="ctr"/>
          <a:lstStyle/>
          <a:p>
            <a:pPr marL="0" indent="0" algn="l">
              <a:buNone/>
            </a:pPr>
            <a:r>
              <a:rPr lang="en-US" sz="900" b="1" dirty="0">
                <a:solidFill>
                  <a:srgbClr val="F59E0B"/>
                </a:solidFill>
                <a:latin typeface="Calibri" pitchFamily="34" charset="0"/>
                <a:ea typeface="Calibri" pitchFamily="34" charset="-122"/>
                <a:cs typeface="Calibri" pitchFamily="34" charset="-120"/>
              </a:rPr>
              <a:t>Problem:</a:t>
            </a:r>
            <a:endParaRPr lang="en-US" sz="900" dirty="0"/>
          </a:p>
        </p:txBody>
      </p:sp>
      <p:sp>
        <p:nvSpPr>
          <p:cNvPr id="26" name="Text 24"/>
          <p:cNvSpPr/>
          <p:nvPr/>
        </p:nvSpPr>
        <p:spPr>
          <a:xfrm>
            <a:off x="1645920" y="3456432"/>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Server crashed on startup with 'PathError: Missing parameter name' — bare wildcard (*) rejected by modern path-to-regexp.</a:t>
            </a:r>
            <a:endParaRPr lang="en-US" sz="850" dirty="0"/>
          </a:p>
        </p:txBody>
      </p:sp>
      <p:sp>
        <p:nvSpPr>
          <p:cNvPr id="27" name="Text 25"/>
          <p:cNvSpPr/>
          <p:nvPr/>
        </p:nvSpPr>
        <p:spPr>
          <a:xfrm>
            <a:off x="795528" y="3822192"/>
            <a:ext cx="822960" cy="237744"/>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Fix:</a:t>
            </a:r>
            <a:endParaRPr lang="en-US" sz="900" dirty="0"/>
          </a:p>
        </p:txBody>
      </p:sp>
      <p:sp>
        <p:nvSpPr>
          <p:cNvPr id="28" name="Text 26"/>
          <p:cNvSpPr/>
          <p:nvPr/>
        </p:nvSpPr>
        <p:spPr>
          <a:xfrm>
            <a:off x="1645920" y="3822192"/>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Changed client fallback route to a regex /^(?!\/api).*$/ — cleanly serves React index page for all non-API routes.</a:t>
            </a:r>
            <a:endParaRPr lang="en-US" sz="850" dirty="0"/>
          </a:p>
        </p:txBody>
      </p:sp>
      <p:sp>
        <p:nvSpPr>
          <p:cNvPr id="29" name="Text 27"/>
          <p:cNvSpPr/>
          <p:nvPr/>
        </p:nvSpPr>
        <p:spPr>
          <a:xfrm>
            <a:off x="795528" y="4242816"/>
            <a:ext cx="822960" cy="237744"/>
          </a:xfrm>
          <a:prstGeom prst="rect">
            <a:avLst/>
          </a:prstGeom>
          <a:noFill/>
          <a:ln/>
        </p:spPr>
        <p:txBody>
          <a:bodyPr wrap="square" lIns="0" tIns="0" rIns="0" bIns="0" rtlCol="0" anchor="ctr"/>
          <a:lstStyle/>
          <a:p>
            <a:pPr marL="0" indent="0" algn="l">
              <a:buNone/>
            </a:pPr>
            <a:r>
              <a:rPr lang="en-US" sz="900" b="1" dirty="0">
                <a:solidFill>
                  <a:srgbClr val="0D9488"/>
                </a:solidFill>
                <a:latin typeface="Calibri" pitchFamily="34" charset="0"/>
                <a:ea typeface="Calibri" pitchFamily="34" charset="-122"/>
                <a:cs typeface="Calibri" pitchFamily="34" charset="-120"/>
              </a:rPr>
              <a:t>Lesson:</a:t>
            </a:r>
            <a:endParaRPr lang="en-US" sz="900" dirty="0"/>
          </a:p>
        </p:txBody>
      </p:sp>
      <p:sp>
        <p:nvSpPr>
          <p:cNvPr id="30" name="Text 28"/>
          <p:cNvSpPr/>
          <p:nvPr/>
        </p:nvSpPr>
        <p:spPr>
          <a:xfrm>
            <a:off x="1645920" y="4242816"/>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Always test with the Node.js version specified in your deployment. path-to-regexp v8+ breaks bare wildcards.</a:t>
            </a:r>
            <a:endParaRPr lang="en-US" sz="850" dirty="0"/>
          </a:p>
        </p:txBody>
      </p:sp>
      <p:sp>
        <p:nvSpPr>
          <p:cNvPr id="31" name="Shape 29"/>
          <p:cNvSpPr/>
          <p:nvPr/>
        </p:nvSpPr>
        <p:spPr>
          <a:xfrm>
            <a:off x="4709160" y="3017520"/>
            <a:ext cx="4251960" cy="1737360"/>
          </a:xfrm>
          <a:prstGeom prst="roundRect">
            <a:avLst>
              <a:gd name="adj" fmla="val 421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2" name="Shape 30"/>
          <p:cNvSpPr/>
          <p:nvPr/>
        </p:nvSpPr>
        <p:spPr>
          <a:xfrm>
            <a:off x="4837176" y="3108960"/>
            <a:ext cx="274320" cy="1554480"/>
          </a:xfrm>
          <a:prstGeom prst="roundRect">
            <a:avLst>
              <a:gd name="adj" fmla="val 13333"/>
            </a:avLst>
          </a:prstGeom>
          <a:solidFill>
            <a:srgbClr val="0D9488"/>
          </a:solidFill>
          <a:ln w="12700">
            <a:solidFill>
              <a:srgbClr val="0D9488"/>
            </a:solidFill>
            <a:prstDash val="solid"/>
          </a:ln>
        </p:spPr>
      </p:sp>
      <p:sp>
        <p:nvSpPr>
          <p:cNvPr id="33" name="Text 31"/>
          <p:cNvSpPr/>
          <p:nvPr/>
        </p:nvSpPr>
        <p:spPr>
          <a:xfrm>
            <a:off x="5212080" y="3108960"/>
            <a:ext cx="3657600" cy="29260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Mobile Layout Overflow</a:t>
            </a:r>
            <a:endParaRPr lang="en-US" sz="1100" dirty="0"/>
          </a:p>
        </p:txBody>
      </p:sp>
      <p:sp>
        <p:nvSpPr>
          <p:cNvPr id="34" name="Text 32"/>
          <p:cNvSpPr/>
          <p:nvPr/>
        </p:nvSpPr>
        <p:spPr>
          <a:xfrm>
            <a:off x="5212080" y="3456432"/>
            <a:ext cx="822960" cy="237744"/>
          </a:xfrm>
          <a:prstGeom prst="rect">
            <a:avLst/>
          </a:prstGeom>
          <a:noFill/>
          <a:ln/>
        </p:spPr>
        <p:txBody>
          <a:bodyPr wrap="square" lIns="0" tIns="0" rIns="0" bIns="0" rtlCol="0" anchor="ctr"/>
          <a:lstStyle/>
          <a:p>
            <a:pPr marL="0" indent="0" algn="l">
              <a:buNone/>
            </a:pPr>
            <a:r>
              <a:rPr lang="en-US" sz="900" b="1" dirty="0">
                <a:solidFill>
                  <a:srgbClr val="F59E0B"/>
                </a:solidFill>
                <a:latin typeface="Calibri" pitchFamily="34" charset="0"/>
                <a:ea typeface="Calibri" pitchFamily="34" charset="-122"/>
                <a:cs typeface="Calibri" pitchFamily="34" charset="-120"/>
              </a:rPr>
              <a:t>Problem:</a:t>
            </a:r>
            <a:endParaRPr lang="en-US" sz="900" dirty="0"/>
          </a:p>
        </p:txBody>
      </p:sp>
      <p:sp>
        <p:nvSpPr>
          <p:cNvPr id="35" name="Text 33"/>
          <p:cNvSpPr/>
          <p:nvPr/>
        </p:nvSpPr>
        <p:spPr>
          <a:xfrm>
            <a:off x="6062472" y="3456432"/>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Dashboard panels were clipped and stretched on phone screens — unusable on mobile devices.</a:t>
            </a:r>
            <a:endParaRPr lang="en-US" sz="850" dirty="0"/>
          </a:p>
        </p:txBody>
      </p:sp>
      <p:sp>
        <p:nvSpPr>
          <p:cNvPr id="36" name="Text 34"/>
          <p:cNvSpPr/>
          <p:nvPr/>
        </p:nvSpPr>
        <p:spPr>
          <a:xfrm>
            <a:off x="5212080" y="3822192"/>
            <a:ext cx="822960" cy="237744"/>
          </a:xfrm>
          <a:prstGeom prst="rect">
            <a:avLst/>
          </a:prstGeom>
          <a:noFill/>
          <a:ln/>
        </p:spPr>
        <p:txBody>
          <a:bodyPr wrap="square" lIns="0" tIns="0" rIns="0" bIns="0" rtlCol="0" anchor="ctr"/>
          <a:lstStyle/>
          <a:p>
            <a:pPr marL="0" indent="0" algn="l">
              <a:buNone/>
            </a:pPr>
            <a:r>
              <a:rPr lang="en-US" sz="900" b="1" dirty="0">
                <a:solidFill>
                  <a:srgbClr val="5EEAD4"/>
                </a:solidFill>
                <a:latin typeface="Calibri" pitchFamily="34" charset="0"/>
                <a:ea typeface="Calibri" pitchFamily="34" charset="-122"/>
                <a:cs typeface="Calibri" pitchFamily="34" charset="-120"/>
              </a:rPr>
              <a:t>Fix:</a:t>
            </a:r>
            <a:endParaRPr lang="en-US" sz="900" dirty="0"/>
          </a:p>
        </p:txBody>
      </p:sp>
      <p:sp>
        <p:nvSpPr>
          <p:cNvPr id="37" name="Text 35"/>
          <p:cNvSpPr/>
          <p:nvPr/>
        </p:nvSpPr>
        <p:spPr>
          <a:xfrm>
            <a:off x="6062472" y="3822192"/>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Added min-width: 0 to panel cards and minmax(0, 1fr) to CSS Grid layouts — forces items to fit inside mobile viewport.</a:t>
            </a:r>
            <a:endParaRPr lang="en-US" sz="850" dirty="0"/>
          </a:p>
        </p:txBody>
      </p:sp>
      <p:sp>
        <p:nvSpPr>
          <p:cNvPr id="38" name="Text 36"/>
          <p:cNvSpPr/>
          <p:nvPr/>
        </p:nvSpPr>
        <p:spPr>
          <a:xfrm>
            <a:off x="5212080" y="4242816"/>
            <a:ext cx="822960" cy="237744"/>
          </a:xfrm>
          <a:prstGeom prst="rect">
            <a:avLst/>
          </a:prstGeom>
          <a:noFill/>
          <a:ln/>
        </p:spPr>
        <p:txBody>
          <a:bodyPr wrap="square" lIns="0" tIns="0" rIns="0" bIns="0" rtlCol="0" anchor="ctr"/>
          <a:lstStyle/>
          <a:p>
            <a:pPr marL="0" indent="0" algn="l">
              <a:buNone/>
            </a:pPr>
            <a:r>
              <a:rPr lang="en-US" sz="900" b="1" dirty="0">
                <a:solidFill>
                  <a:srgbClr val="0D9488"/>
                </a:solidFill>
                <a:latin typeface="Calibri" pitchFamily="34" charset="0"/>
                <a:ea typeface="Calibri" pitchFamily="34" charset="-122"/>
                <a:cs typeface="Calibri" pitchFamily="34" charset="-120"/>
              </a:rPr>
              <a:t>Lesson:</a:t>
            </a:r>
            <a:endParaRPr lang="en-US" sz="900" dirty="0"/>
          </a:p>
        </p:txBody>
      </p:sp>
      <p:sp>
        <p:nvSpPr>
          <p:cNvPr id="39" name="Text 37"/>
          <p:cNvSpPr/>
          <p:nvPr/>
        </p:nvSpPr>
        <p:spPr>
          <a:xfrm>
            <a:off x="6062472" y="4242816"/>
            <a:ext cx="2816352" cy="274320"/>
          </a:xfrm>
          <a:prstGeom prst="rect">
            <a:avLst/>
          </a:prstGeom>
          <a:noFill/>
          <a:ln/>
        </p:spPr>
        <p:txBody>
          <a:bodyPr wrap="square" lIns="0" tIns="0" rIns="0" bIns="0" rtlCol="0" anchor="ctr"/>
          <a:lstStyle/>
          <a:p>
            <a:pPr marL="0" indent="0" algn="l">
              <a:buNone/>
            </a:pPr>
            <a:r>
              <a:rPr lang="en-US" sz="850" dirty="0">
                <a:solidFill>
                  <a:srgbClr val="CBD5E1"/>
                </a:solidFill>
                <a:latin typeface="Calibri" pitchFamily="34" charset="0"/>
                <a:ea typeface="Calibri" pitchFamily="34" charset="-122"/>
                <a:cs typeface="Calibri" pitchFamily="34" charset="-120"/>
              </a:rPr>
              <a:t>CSS Grid items default to min-width: auto — they expand beyond their container. Always test on mobile viewports.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Results &amp; Outcomes</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Every feature delivered — live, tested, and working on AWS</a:t>
            </a:r>
            <a:endParaRPr lang="en-US" sz="1200" dirty="0"/>
          </a:p>
        </p:txBody>
      </p:sp>
      <p:sp>
        <p:nvSpPr>
          <p:cNvPr id="4" name="Shape 2"/>
          <p:cNvSpPr/>
          <p:nvPr/>
        </p:nvSpPr>
        <p:spPr>
          <a:xfrm>
            <a:off x="292608" y="117043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Text 3"/>
          <p:cNvSpPr/>
          <p:nvPr/>
        </p:nvSpPr>
        <p:spPr>
          <a:xfrm>
            <a:off x="420624" y="131673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6" name="Text 4"/>
          <p:cNvSpPr/>
          <p:nvPr/>
        </p:nvSpPr>
        <p:spPr>
          <a:xfrm>
            <a:off x="1060704" y="133502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Live on CloudFront</a:t>
            </a:r>
            <a:endParaRPr lang="en-US" sz="1150" dirty="0"/>
          </a:p>
        </p:txBody>
      </p:sp>
      <p:sp>
        <p:nvSpPr>
          <p:cNvPr id="7" name="Shape 5"/>
          <p:cNvSpPr/>
          <p:nvPr/>
        </p:nvSpPr>
        <p:spPr>
          <a:xfrm>
            <a:off x="1060704" y="1719072"/>
            <a:ext cx="914400" cy="201168"/>
          </a:xfrm>
          <a:prstGeom prst="roundRect">
            <a:avLst>
              <a:gd name="adj" fmla="val 18182"/>
            </a:avLst>
          </a:prstGeom>
          <a:solidFill>
            <a:srgbClr val="0D9488"/>
          </a:solidFill>
          <a:ln w="12700">
            <a:solidFill>
              <a:srgbClr val="0D9488"/>
            </a:solidFill>
            <a:prstDash val="solid"/>
          </a:ln>
        </p:spPr>
      </p:sp>
      <p:sp>
        <p:nvSpPr>
          <p:cNvPr id="8" name="Text 6"/>
          <p:cNvSpPr/>
          <p:nvPr/>
        </p:nvSpPr>
        <p:spPr>
          <a:xfrm>
            <a:off x="1060704" y="171907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LIVE</a:t>
            </a:r>
            <a:endParaRPr lang="en-US" sz="750" dirty="0"/>
          </a:p>
        </p:txBody>
      </p:sp>
      <p:sp>
        <p:nvSpPr>
          <p:cNvPr id="9" name="Text 7"/>
          <p:cNvSpPr/>
          <p:nvPr/>
        </p:nvSpPr>
        <p:spPr>
          <a:xfrm>
            <a:off x="420624" y="203911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App served globally over HTTPS. WAF protection active. Zero downtime.</a:t>
            </a:r>
            <a:endParaRPr lang="en-US" sz="950" dirty="0"/>
          </a:p>
        </p:txBody>
      </p:sp>
      <p:sp>
        <p:nvSpPr>
          <p:cNvPr id="10" name="Shape 8"/>
          <p:cNvSpPr/>
          <p:nvPr/>
        </p:nvSpPr>
        <p:spPr>
          <a:xfrm>
            <a:off x="3236976" y="117043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1" name="Text 9"/>
          <p:cNvSpPr/>
          <p:nvPr/>
        </p:nvSpPr>
        <p:spPr>
          <a:xfrm>
            <a:off x="3364992" y="131673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4005072" y="133502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File Upload Works</a:t>
            </a:r>
            <a:endParaRPr lang="en-US" sz="1150" dirty="0"/>
          </a:p>
        </p:txBody>
      </p:sp>
      <p:sp>
        <p:nvSpPr>
          <p:cNvPr id="13" name="Shape 11"/>
          <p:cNvSpPr/>
          <p:nvPr/>
        </p:nvSpPr>
        <p:spPr>
          <a:xfrm>
            <a:off x="4005072" y="1719072"/>
            <a:ext cx="914400" cy="201168"/>
          </a:xfrm>
          <a:prstGeom prst="roundRect">
            <a:avLst>
              <a:gd name="adj" fmla="val 18182"/>
            </a:avLst>
          </a:prstGeom>
          <a:solidFill>
            <a:srgbClr val="0D9488"/>
          </a:solidFill>
          <a:ln w="12700">
            <a:solidFill>
              <a:srgbClr val="0D9488"/>
            </a:solidFill>
            <a:prstDash val="solid"/>
          </a:ln>
        </p:spPr>
      </p:sp>
      <p:sp>
        <p:nvSpPr>
          <p:cNvPr id="14" name="Text 12"/>
          <p:cNvSpPr/>
          <p:nvPr/>
        </p:nvSpPr>
        <p:spPr>
          <a:xfrm>
            <a:off x="4005072" y="171907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DONE</a:t>
            </a:r>
            <a:endParaRPr lang="en-US" sz="750" dirty="0"/>
          </a:p>
        </p:txBody>
      </p:sp>
      <p:sp>
        <p:nvSpPr>
          <p:cNvPr id="15" name="Text 13"/>
          <p:cNvSpPr/>
          <p:nvPr/>
        </p:nvSpPr>
        <p:spPr>
          <a:xfrm>
            <a:off x="3364992" y="203911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Files stream to S3 via Multer-S3. Metadata in PostgreSQL. All file types supported.</a:t>
            </a:r>
            <a:endParaRPr lang="en-US" sz="950" dirty="0"/>
          </a:p>
        </p:txBody>
      </p:sp>
      <p:sp>
        <p:nvSpPr>
          <p:cNvPr id="16" name="Shape 14"/>
          <p:cNvSpPr/>
          <p:nvPr/>
        </p:nvSpPr>
        <p:spPr>
          <a:xfrm>
            <a:off x="6181344" y="117043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Text 15"/>
          <p:cNvSpPr/>
          <p:nvPr/>
        </p:nvSpPr>
        <p:spPr>
          <a:xfrm>
            <a:off x="6309360" y="131673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8" name="Text 16"/>
          <p:cNvSpPr/>
          <p:nvPr/>
        </p:nvSpPr>
        <p:spPr>
          <a:xfrm>
            <a:off x="6949440" y="133502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List + Search + Filter</a:t>
            </a:r>
            <a:endParaRPr lang="en-US" sz="1150" dirty="0"/>
          </a:p>
        </p:txBody>
      </p:sp>
      <p:sp>
        <p:nvSpPr>
          <p:cNvPr id="19" name="Shape 17"/>
          <p:cNvSpPr/>
          <p:nvPr/>
        </p:nvSpPr>
        <p:spPr>
          <a:xfrm>
            <a:off x="6949440" y="1719072"/>
            <a:ext cx="914400" cy="201168"/>
          </a:xfrm>
          <a:prstGeom prst="roundRect">
            <a:avLst>
              <a:gd name="adj" fmla="val 18182"/>
            </a:avLst>
          </a:prstGeom>
          <a:solidFill>
            <a:srgbClr val="0D9488"/>
          </a:solidFill>
          <a:ln w="12700">
            <a:solidFill>
              <a:srgbClr val="0D9488"/>
            </a:solidFill>
            <a:prstDash val="solid"/>
          </a:ln>
        </p:spPr>
      </p:sp>
      <p:sp>
        <p:nvSpPr>
          <p:cNvPr id="20" name="Text 18"/>
          <p:cNvSpPr/>
          <p:nvPr/>
        </p:nvSpPr>
        <p:spPr>
          <a:xfrm>
            <a:off x="6949440" y="171907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DONE</a:t>
            </a:r>
            <a:endParaRPr lang="en-US" sz="750" dirty="0"/>
          </a:p>
        </p:txBody>
      </p:sp>
      <p:sp>
        <p:nvSpPr>
          <p:cNvPr id="21" name="Text 19"/>
          <p:cNvSpPr/>
          <p:nvPr/>
        </p:nvSpPr>
        <p:spPr>
          <a:xfrm>
            <a:off x="6309360" y="203911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15 files displayed with name, size, date, category. Search and filter working.</a:t>
            </a:r>
            <a:endParaRPr lang="en-US" sz="950" dirty="0"/>
          </a:p>
        </p:txBody>
      </p:sp>
      <p:sp>
        <p:nvSpPr>
          <p:cNvPr id="22" name="Shape 20"/>
          <p:cNvSpPr/>
          <p:nvPr/>
        </p:nvSpPr>
        <p:spPr>
          <a:xfrm>
            <a:off x="292608" y="295351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3" name="Text 21"/>
          <p:cNvSpPr/>
          <p:nvPr/>
        </p:nvSpPr>
        <p:spPr>
          <a:xfrm>
            <a:off x="420624" y="309981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4" name="Text 22"/>
          <p:cNvSpPr/>
          <p:nvPr/>
        </p:nvSpPr>
        <p:spPr>
          <a:xfrm>
            <a:off x="1060704" y="311810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Secure Downloads</a:t>
            </a:r>
            <a:endParaRPr lang="en-US" sz="1150" dirty="0"/>
          </a:p>
        </p:txBody>
      </p:sp>
      <p:sp>
        <p:nvSpPr>
          <p:cNvPr id="25" name="Shape 23"/>
          <p:cNvSpPr/>
          <p:nvPr/>
        </p:nvSpPr>
        <p:spPr>
          <a:xfrm>
            <a:off x="1060704" y="3502152"/>
            <a:ext cx="914400" cy="201168"/>
          </a:xfrm>
          <a:prstGeom prst="roundRect">
            <a:avLst>
              <a:gd name="adj" fmla="val 18182"/>
            </a:avLst>
          </a:prstGeom>
          <a:solidFill>
            <a:srgbClr val="0D9488"/>
          </a:solidFill>
          <a:ln w="12700">
            <a:solidFill>
              <a:srgbClr val="0D9488"/>
            </a:solidFill>
            <a:prstDash val="solid"/>
          </a:ln>
        </p:spPr>
      </p:sp>
      <p:sp>
        <p:nvSpPr>
          <p:cNvPr id="26" name="Text 24"/>
          <p:cNvSpPr/>
          <p:nvPr/>
        </p:nvSpPr>
        <p:spPr>
          <a:xfrm>
            <a:off x="1060704" y="350215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DONE</a:t>
            </a:r>
            <a:endParaRPr lang="en-US" sz="750" dirty="0"/>
          </a:p>
        </p:txBody>
      </p:sp>
      <p:sp>
        <p:nvSpPr>
          <p:cNvPr id="27" name="Text 25"/>
          <p:cNvSpPr/>
          <p:nvPr/>
        </p:nvSpPr>
        <p:spPr>
          <a:xfrm>
            <a:off x="420624" y="382219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Presigned S3 URLs with 1hr expiry. Files never permanently exposed to internet.</a:t>
            </a:r>
            <a:endParaRPr lang="en-US" sz="950" dirty="0"/>
          </a:p>
        </p:txBody>
      </p:sp>
      <p:sp>
        <p:nvSpPr>
          <p:cNvPr id="28" name="Shape 26"/>
          <p:cNvSpPr/>
          <p:nvPr/>
        </p:nvSpPr>
        <p:spPr>
          <a:xfrm>
            <a:off x="3236976" y="295351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9" name="Text 27"/>
          <p:cNvSpPr/>
          <p:nvPr/>
        </p:nvSpPr>
        <p:spPr>
          <a:xfrm>
            <a:off x="3364992" y="309981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0" name="Text 28"/>
          <p:cNvSpPr/>
          <p:nvPr/>
        </p:nvSpPr>
        <p:spPr>
          <a:xfrm>
            <a:off x="4005072" y="311810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Delete — Fully Synced</a:t>
            </a:r>
            <a:endParaRPr lang="en-US" sz="1150" dirty="0"/>
          </a:p>
        </p:txBody>
      </p:sp>
      <p:sp>
        <p:nvSpPr>
          <p:cNvPr id="31" name="Shape 29"/>
          <p:cNvSpPr/>
          <p:nvPr/>
        </p:nvSpPr>
        <p:spPr>
          <a:xfrm>
            <a:off x="4005072" y="3502152"/>
            <a:ext cx="914400" cy="201168"/>
          </a:xfrm>
          <a:prstGeom prst="roundRect">
            <a:avLst>
              <a:gd name="adj" fmla="val 18182"/>
            </a:avLst>
          </a:prstGeom>
          <a:solidFill>
            <a:srgbClr val="0D9488"/>
          </a:solidFill>
          <a:ln w="12700">
            <a:solidFill>
              <a:srgbClr val="0D9488"/>
            </a:solidFill>
            <a:prstDash val="solid"/>
          </a:ln>
        </p:spPr>
      </p:sp>
      <p:sp>
        <p:nvSpPr>
          <p:cNvPr id="32" name="Text 30"/>
          <p:cNvSpPr/>
          <p:nvPr/>
        </p:nvSpPr>
        <p:spPr>
          <a:xfrm>
            <a:off x="4005072" y="350215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DONE</a:t>
            </a:r>
            <a:endParaRPr lang="en-US" sz="750" dirty="0"/>
          </a:p>
        </p:txBody>
      </p:sp>
      <p:sp>
        <p:nvSpPr>
          <p:cNvPr id="33" name="Text 31"/>
          <p:cNvSpPr/>
          <p:nvPr/>
        </p:nvSpPr>
        <p:spPr>
          <a:xfrm>
            <a:off x="3364992" y="382219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Removes from both S3 and PostgreSQL. Background sync keeps both consistent.</a:t>
            </a:r>
            <a:endParaRPr lang="en-US" sz="950" dirty="0"/>
          </a:p>
        </p:txBody>
      </p:sp>
      <p:sp>
        <p:nvSpPr>
          <p:cNvPr id="34" name="Shape 32"/>
          <p:cNvSpPr/>
          <p:nvPr/>
        </p:nvSpPr>
        <p:spPr>
          <a:xfrm>
            <a:off x="6181344" y="2953512"/>
            <a:ext cx="2788920" cy="1600200"/>
          </a:xfrm>
          <a:prstGeom prst="roundRect">
            <a:avLst>
              <a:gd name="adj" fmla="val 457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5" name="Text 33"/>
          <p:cNvSpPr/>
          <p:nvPr/>
        </p:nvSpPr>
        <p:spPr>
          <a:xfrm>
            <a:off x="6309360" y="3099816"/>
            <a:ext cx="594360" cy="59436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6" name="Text 34"/>
          <p:cNvSpPr/>
          <p:nvPr/>
        </p:nvSpPr>
        <p:spPr>
          <a:xfrm>
            <a:off x="6949440" y="3118104"/>
            <a:ext cx="1901952" cy="32918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CI/CD — 11 Deployments</a:t>
            </a:r>
            <a:endParaRPr lang="en-US" sz="1150" dirty="0"/>
          </a:p>
        </p:txBody>
      </p:sp>
      <p:sp>
        <p:nvSpPr>
          <p:cNvPr id="37" name="Shape 35"/>
          <p:cNvSpPr/>
          <p:nvPr/>
        </p:nvSpPr>
        <p:spPr>
          <a:xfrm>
            <a:off x="6949440" y="3502152"/>
            <a:ext cx="914400" cy="201168"/>
          </a:xfrm>
          <a:prstGeom prst="roundRect">
            <a:avLst>
              <a:gd name="adj" fmla="val 18182"/>
            </a:avLst>
          </a:prstGeom>
          <a:solidFill>
            <a:srgbClr val="0D9488"/>
          </a:solidFill>
          <a:ln w="12700">
            <a:solidFill>
              <a:srgbClr val="0D9488"/>
            </a:solidFill>
            <a:prstDash val="solid"/>
          </a:ln>
        </p:spPr>
      </p:sp>
      <p:sp>
        <p:nvSpPr>
          <p:cNvPr id="38" name="Text 36"/>
          <p:cNvSpPr/>
          <p:nvPr/>
        </p:nvSpPr>
        <p:spPr>
          <a:xfrm>
            <a:off x="6949440" y="3502152"/>
            <a:ext cx="914400" cy="201168"/>
          </a:xfrm>
          <a:prstGeom prst="rect">
            <a:avLst/>
          </a:prstGeom>
          <a:noFill/>
          <a:ln/>
        </p:spPr>
        <p:txBody>
          <a:bodyPr wrap="square" lIns="0" tIns="0" rIns="0" bIns="0" rtlCol="0" anchor="ctr"/>
          <a:lstStyle/>
          <a:p>
            <a:pPr marL="0" indent="0" algn="ctr">
              <a:buNone/>
            </a:pPr>
            <a:r>
              <a:rPr lang="en-US" sz="750" b="1" dirty="0">
                <a:solidFill>
                  <a:srgbClr val="0A1628"/>
                </a:solidFill>
                <a:latin typeface="Calibri" pitchFamily="34" charset="0"/>
                <a:ea typeface="Calibri" pitchFamily="34" charset="-122"/>
                <a:cs typeface="Calibri" pitchFamily="34" charset="-120"/>
              </a:rPr>
              <a:t>✅ ACTIVE</a:t>
            </a:r>
            <a:endParaRPr lang="en-US" sz="750" dirty="0"/>
          </a:p>
        </p:txBody>
      </p:sp>
      <p:sp>
        <p:nvSpPr>
          <p:cNvPr id="39" name="Text 37"/>
          <p:cNvSpPr/>
          <p:nvPr/>
        </p:nvSpPr>
        <p:spPr>
          <a:xfrm>
            <a:off x="6309360" y="3822192"/>
            <a:ext cx="2542032" cy="621792"/>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GitHub Actions pipeline ran 11 times successfully. Last build: 51 seconds.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48640"/>
          </a:xfrm>
          <a:prstGeom prst="rect">
            <a:avLst/>
          </a:prstGeom>
          <a:noFill/>
          <a:ln/>
        </p:spPr>
        <p:txBody>
          <a:bodyPr wrap="square" lIns="0" tIns="0" rIns="0" bIns="0" rtlCol="0" anchor="ctr"/>
          <a:lstStyle/>
          <a:p>
            <a:pPr marL="0" indent="0" algn="l">
              <a:buNone/>
            </a:pPr>
            <a:r>
              <a:rPr lang="en-US" sz="3000" b="1" dirty="0">
                <a:solidFill>
                  <a:srgbClr val="5EEAD4"/>
                </a:solidFill>
                <a:latin typeface="Cambria" pitchFamily="34" charset="0"/>
                <a:ea typeface="Cambria" pitchFamily="34" charset="-122"/>
                <a:cs typeface="Cambria" pitchFamily="34" charset="-120"/>
              </a:rPr>
              <a:t>Future Improvements</a:t>
            </a:r>
            <a:endParaRPr lang="en-US" sz="3000" dirty="0"/>
          </a:p>
        </p:txBody>
      </p:sp>
      <p:sp>
        <p:nvSpPr>
          <p:cNvPr id="3" name="Text 1"/>
          <p:cNvSpPr/>
          <p:nvPr/>
        </p:nvSpPr>
        <p:spPr>
          <a:xfrm>
            <a:off x="457200" y="868680"/>
            <a:ext cx="8229600" cy="292608"/>
          </a:xfrm>
          <a:prstGeom prst="rect">
            <a:avLst/>
          </a:prstGeom>
          <a:noFill/>
          <a:ln/>
        </p:spPr>
        <p:txBody>
          <a:bodyPr wrap="square" lIns="0" tIns="0" rIns="0" bIns="0" rtlCol="0" anchor="ctr"/>
          <a:lstStyle/>
          <a:p>
            <a:pPr marL="0" indent="0" algn="l">
              <a:buNone/>
            </a:pPr>
            <a:r>
              <a:rPr lang="en-US" sz="1200" dirty="0">
                <a:solidFill>
                  <a:srgbClr val="CBD5E1"/>
                </a:solidFill>
                <a:latin typeface="Calibri" pitchFamily="34" charset="0"/>
                <a:ea typeface="Calibri" pitchFamily="34" charset="-122"/>
                <a:cs typeface="Calibri" pitchFamily="34" charset="-120"/>
              </a:rPr>
              <a:t>Where CloudDrop goes next — building on production foundations already in place</a:t>
            </a:r>
            <a:endParaRPr lang="en-US" sz="1200" dirty="0"/>
          </a:p>
        </p:txBody>
      </p:sp>
      <p:sp>
        <p:nvSpPr>
          <p:cNvPr id="4" name="Shape 2"/>
          <p:cNvSpPr/>
          <p:nvPr/>
        </p:nvSpPr>
        <p:spPr>
          <a:xfrm>
            <a:off x="292608" y="1115568"/>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5" name="Text 3"/>
          <p:cNvSpPr/>
          <p:nvPr/>
        </p:nvSpPr>
        <p:spPr>
          <a:xfrm>
            <a:off x="402336" y="1389888"/>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6" name="Shape 4"/>
          <p:cNvSpPr/>
          <p:nvPr/>
        </p:nvSpPr>
        <p:spPr>
          <a:xfrm>
            <a:off x="1005840" y="1207008"/>
            <a:ext cx="1024128" cy="228600"/>
          </a:xfrm>
          <a:prstGeom prst="roundRect">
            <a:avLst>
              <a:gd name="adj" fmla="val 16000"/>
            </a:avLst>
          </a:prstGeom>
          <a:solidFill>
            <a:srgbClr val="065A82"/>
          </a:solidFill>
          <a:ln w="6350">
            <a:solidFill>
              <a:srgbClr val="0D9488"/>
            </a:solidFill>
            <a:prstDash val="solid"/>
          </a:ln>
        </p:spPr>
      </p:sp>
      <p:sp>
        <p:nvSpPr>
          <p:cNvPr id="7" name="Text 5"/>
          <p:cNvSpPr/>
          <p:nvPr/>
        </p:nvSpPr>
        <p:spPr>
          <a:xfrm>
            <a:off x="1005840" y="1207008"/>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Security</a:t>
            </a:r>
            <a:endParaRPr lang="en-US" sz="800" dirty="0"/>
          </a:p>
        </p:txBody>
      </p:sp>
      <p:sp>
        <p:nvSpPr>
          <p:cNvPr id="8" name="Text 6"/>
          <p:cNvSpPr/>
          <p:nvPr/>
        </p:nvSpPr>
        <p:spPr>
          <a:xfrm>
            <a:off x="1005840" y="1481328"/>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User Authentication</a:t>
            </a:r>
            <a:endParaRPr lang="en-US" sz="1200" dirty="0"/>
          </a:p>
        </p:txBody>
      </p:sp>
      <p:sp>
        <p:nvSpPr>
          <p:cNvPr id="9" name="Text 7"/>
          <p:cNvSpPr/>
          <p:nvPr/>
        </p:nvSpPr>
        <p:spPr>
          <a:xfrm>
            <a:off x="1005840" y="1773936"/>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JWT login so each user sees only their files. Role-based access control.</a:t>
            </a:r>
            <a:endParaRPr lang="en-US" sz="950" dirty="0"/>
          </a:p>
        </p:txBody>
      </p:sp>
      <p:sp>
        <p:nvSpPr>
          <p:cNvPr id="10" name="Shape 8"/>
          <p:cNvSpPr/>
          <p:nvPr/>
        </p:nvSpPr>
        <p:spPr>
          <a:xfrm>
            <a:off x="4736592" y="1115568"/>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1" name="Text 9"/>
          <p:cNvSpPr/>
          <p:nvPr/>
        </p:nvSpPr>
        <p:spPr>
          <a:xfrm>
            <a:off x="4846320" y="1389888"/>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2" name="Shape 10"/>
          <p:cNvSpPr/>
          <p:nvPr/>
        </p:nvSpPr>
        <p:spPr>
          <a:xfrm>
            <a:off x="5449824" y="1207008"/>
            <a:ext cx="1024128" cy="228600"/>
          </a:xfrm>
          <a:prstGeom prst="roundRect">
            <a:avLst>
              <a:gd name="adj" fmla="val 16000"/>
            </a:avLst>
          </a:prstGeom>
          <a:solidFill>
            <a:srgbClr val="065A82"/>
          </a:solidFill>
          <a:ln w="6350">
            <a:solidFill>
              <a:srgbClr val="0D9488"/>
            </a:solidFill>
            <a:prstDash val="solid"/>
          </a:ln>
        </p:spPr>
      </p:sp>
      <p:sp>
        <p:nvSpPr>
          <p:cNvPr id="13" name="Text 11"/>
          <p:cNvSpPr/>
          <p:nvPr/>
        </p:nvSpPr>
        <p:spPr>
          <a:xfrm>
            <a:off x="5449824" y="1207008"/>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Infrastructure</a:t>
            </a:r>
            <a:endParaRPr lang="en-US" sz="800" dirty="0"/>
          </a:p>
        </p:txBody>
      </p:sp>
      <p:sp>
        <p:nvSpPr>
          <p:cNvPr id="14" name="Text 12"/>
          <p:cNvSpPr/>
          <p:nvPr/>
        </p:nvSpPr>
        <p:spPr>
          <a:xfrm>
            <a:off x="5449824" y="1481328"/>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Custom Domain + SSL Cert</a:t>
            </a:r>
            <a:endParaRPr lang="en-US" sz="1200" dirty="0"/>
          </a:p>
        </p:txBody>
      </p:sp>
      <p:sp>
        <p:nvSpPr>
          <p:cNvPr id="15" name="Text 13"/>
          <p:cNvSpPr/>
          <p:nvPr/>
        </p:nvSpPr>
        <p:spPr>
          <a:xfrm>
            <a:off x="5449824" y="1773936"/>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Route53 domain with ACM certificate replacing the CloudFront default URL.</a:t>
            </a:r>
            <a:endParaRPr lang="en-US" sz="950" dirty="0"/>
          </a:p>
        </p:txBody>
      </p:sp>
      <p:sp>
        <p:nvSpPr>
          <p:cNvPr id="16" name="Shape 14"/>
          <p:cNvSpPr/>
          <p:nvPr/>
        </p:nvSpPr>
        <p:spPr>
          <a:xfrm>
            <a:off x="292608" y="1115568"/>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Text 15"/>
          <p:cNvSpPr/>
          <p:nvPr/>
        </p:nvSpPr>
        <p:spPr>
          <a:xfrm>
            <a:off x="402336" y="1389888"/>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8" name="Shape 16"/>
          <p:cNvSpPr/>
          <p:nvPr/>
        </p:nvSpPr>
        <p:spPr>
          <a:xfrm>
            <a:off x="1005840" y="1207008"/>
            <a:ext cx="1024128" cy="228600"/>
          </a:xfrm>
          <a:prstGeom prst="roundRect">
            <a:avLst>
              <a:gd name="adj" fmla="val 16000"/>
            </a:avLst>
          </a:prstGeom>
          <a:solidFill>
            <a:srgbClr val="065A82"/>
          </a:solidFill>
          <a:ln w="6350">
            <a:solidFill>
              <a:srgbClr val="0D9488"/>
            </a:solidFill>
            <a:prstDash val="solid"/>
          </a:ln>
        </p:spPr>
      </p:sp>
      <p:sp>
        <p:nvSpPr>
          <p:cNvPr id="19" name="Text 17"/>
          <p:cNvSpPr/>
          <p:nvPr/>
        </p:nvSpPr>
        <p:spPr>
          <a:xfrm>
            <a:off x="1005840" y="1207008"/>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DevOps</a:t>
            </a:r>
            <a:endParaRPr lang="en-US" sz="800" dirty="0"/>
          </a:p>
        </p:txBody>
      </p:sp>
      <p:sp>
        <p:nvSpPr>
          <p:cNvPr id="20" name="Text 18"/>
          <p:cNvSpPr/>
          <p:nvPr/>
        </p:nvSpPr>
        <p:spPr>
          <a:xfrm>
            <a:off x="1005840" y="1481328"/>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Dockerise the App</a:t>
            </a:r>
            <a:endParaRPr lang="en-US" sz="1200" dirty="0"/>
          </a:p>
        </p:txBody>
      </p:sp>
      <p:sp>
        <p:nvSpPr>
          <p:cNvPr id="21" name="Text 19"/>
          <p:cNvSpPr/>
          <p:nvPr/>
        </p:nvSpPr>
        <p:spPr>
          <a:xfrm>
            <a:off x="1005840" y="1773936"/>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Containerise frontend and backend for consistent cross-environment deploys.</a:t>
            </a:r>
            <a:endParaRPr lang="en-US" sz="950" dirty="0"/>
          </a:p>
        </p:txBody>
      </p:sp>
      <p:sp>
        <p:nvSpPr>
          <p:cNvPr id="22" name="Shape 20"/>
          <p:cNvSpPr/>
          <p:nvPr/>
        </p:nvSpPr>
        <p:spPr>
          <a:xfrm>
            <a:off x="4736592" y="2377440"/>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3" name="Text 21"/>
          <p:cNvSpPr/>
          <p:nvPr/>
        </p:nvSpPr>
        <p:spPr>
          <a:xfrm>
            <a:off x="4846320" y="2651760"/>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4" name="Shape 22"/>
          <p:cNvSpPr/>
          <p:nvPr/>
        </p:nvSpPr>
        <p:spPr>
          <a:xfrm>
            <a:off x="5449824" y="2468880"/>
            <a:ext cx="1024128" cy="228600"/>
          </a:xfrm>
          <a:prstGeom prst="roundRect">
            <a:avLst>
              <a:gd name="adj" fmla="val 16000"/>
            </a:avLst>
          </a:prstGeom>
          <a:solidFill>
            <a:srgbClr val="065A82"/>
          </a:solidFill>
          <a:ln w="6350">
            <a:solidFill>
              <a:srgbClr val="0D9488"/>
            </a:solidFill>
            <a:prstDash val="solid"/>
          </a:ln>
        </p:spPr>
      </p:sp>
      <p:sp>
        <p:nvSpPr>
          <p:cNvPr id="25" name="Text 23"/>
          <p:cNvSpPr/>
          <p:nvPr/>
        </p:nvSpPr>
        <p:spPr>
          <a:xfrm>
            <a:off x="5449824" y="2468880"/>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Scale</a:t>
            </a:r>
            <a:endParaRPr lang="en-US" sz="800" dirty="0"/>
          </a:p>
        </p:txBody>
      </p:sp>
      <p:sp>
        <p:nvSpPr>
          <p:cNvPr id="26" name="Text 24"/>
          <p:cNvSpPr/>
          <p:nvPr/>
        </p:nvSpPr>
        <p:spPr>
          <a:xfrm>
            <a:off x="5449824" y="2743200"/>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Kubernetes on EKS</a:t>
            </a:r>
            <a:endParaRPr lang="en-US" sz="1200" dirty="0"/>
          </a:p>
        </p:txBody>
      </p:sp>
      <p:sp>
        <p:nvSpPr>
          <p:cNvPr id="27" name="Text 25"/>
          <p:cNvSpPr/>
          <p:nvPr/>
        </p:nvSpPr>
        <p:spPr>
          <a:xfrm>
            <a:off x="5449824" y="3035808"/>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Horizontal scaling for thousands of concurrent users using AWS EKS.</a:t>
            </a:r>
            <a:endParaRPr lang="en-US" sz="950" dirty="0"/>
          </a:p>
        </p:txBody>
      </p:sp>
      <p:sp>
        <p:nvSpPr>
          <p:cNvPr id="28" name="Shape 26"/>
          <p:cNvSpPr/>
          <p:nvPr/>
        </p:nvSpPr>
        <p:spPr>
          <a:xfrm>
            <a:off x="292608" y="2377440"/>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9" name="Text 27"/>
          <p:cNvSpPr/>
          <p:nvPr/>
        </p:nvSpPr>
        <p:spPr>
          <a:xfrm>
            <a:off x="402336" y="2651760"/>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0" name="Shape 28"/>
          <p:cNvSpPr/>
          <p:nvPr/>
        </p:nvSpPr>
        <p:spPr>
          <a:xfrm>
            <a:off x="1005840" y="2468880"/>
            <a:ext cx="1024128" cy="228600"/>
          </a:xfrm>
          <a:prstGeom prst="roundRect">
            <a:avLst>
              <a:gd name="adj" fmla="val 16000"/>
            </a:avLst>
          </a:prstGeom>
          <a:solidFill>
            <a:srgbClr val="065A82"/>
          </a:solidFill>
          <a:ln w="6350">
            <a:solidFill>
              <a:srgbClr val="0D9488"/>
            </a:solidFill>
            <a:prstDash val="solid"/>
          </a:ln>
        </p:spPr>
      </p:sp>
      <p:sp>
        <p:nvSpPr>
          <p:cNvPr id="31" name="Text 29"/>
          <p:cNvSpPr/>
          <p:nvPr/>
        </p:nvSpPr>
        <p:spPr>
          <a:xfrm>
            <a:off x="1005840" y="2468880"/>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Feature</a:t>
            </a:r>
            <a:endParaRPr lang="en-US" sz="800" dirty="0"/>
          </a:p>
        </p:txBody>
      </p:sp>
      <p:sp>
        <p:nvSpPr>
          <p:cNvPr id="32" name="Text 30"/>
          <p:cNvSpPr/>
          <p:nvPr/>
        </p:nvSpPr>
        <p:spPr>
          <a:xfrm>
            <a:off x="1005840" y="2743200"/>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Advanced Search</a:t>
            </a:r>
            <a:endParaRPr lang="en-US" sz="1200" dirty="0"/>
          </a:p>
        </p:txBody>
      </p:sp>
      <p:sp>
        <p:nvSpPr>
          <p:cNvPr id="33" name="Text 31"/>
          <p:cNvSpPr/>
          <p:nvPr/>
        </p:nvSpPr>
        <p:spPr>
          <a:xfrm>
            <a:off x="1005840" y="3035808"/>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Full-text search across file names, types, tags, and upload dates.</a:t>
            </a:r>
            <a:endParaRPr lang="en-US" sz="950" dirty="0"/>
          </a:p>
        </p:txBody>
      </p:sp>
      <p:sp>
        <p:nvSpPr>
          <p:cNvPr id="34" name="Shape 32"/>
          <p:cNvSpPr/>
          <p:nvPr/>
        </p:nvSpPr>
        <p:spPr>
          <a:xfrm>
            <a:off x="4736592" y="2377440"/>
            <a:ext cx="4251960" cy="1115568"/>
          </a:xfrm>
          <a:prstGeom prst="roundRect">
            <a:avLst>
              <a:gd name="adj" fmla="val 6557"/>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5" name="Text 33"/>
          <p:cNvSpPr/>
          <p:nvPr/>
        </p:nvSpPr>
        <p:spPr>
          <a:xfrm>
            <a:off x="4846320" y="2651760"/>
            <a:ext cx="54864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6" name="Shape 34"/>
          <p:cNvSpPr/>
          <p:nvPr/>
        </p:nvSpPr>
        <p:spPr>
          <a:xfrm>
            <a:off x="5449824" y="2468880"/>
            <a:ext cx="1024128" cy="228600"/>
          </a:xfrm>
          <a:prstGeom prst="roundRect">
            <a:avLst>
              <a:gd name="adj" fmla="val 16000"/>
            </a:avLst>
          </a:prstGeom>
          <a:solidFill>
            <a:srgbClr val="065A82"/>
          </a:solidFill>
          <a:ln w="6350">
            <a:solidFill>
              <a:srgbClr val="0D9488"/>
            </a:solidFill>
            <a:prstDash val="solid"/>
          </a:ln>
        </p:spPr>
      </p:sp>
      <p:sp>
        <p:nvSpPr>
          <p:cNvPr id="37" name="Text 35"/>
          <p:cNvSpPr/>
          <p:nvPr/>
        </p:nvSpPr>
        <p:spPr>
          <a:xfrm>
            <a:off x="5449824" y="2468880"/>
            <a:ext cx="1024128" cy="228600"/>
          </a:xfrm>
          <a:prstGeom prst="rect">
            <a:avLst/>
          </a:prstGeom>
          <a:noFill/>
          <a:ln/>
        </p:spPr>
        <p:txBody>
          <a:bodyPr wrap="square" lIns="0" tIns="0" rIns="0" bIns="0" rtlCol="0" anchor="ctr"/>
          <a:lstStyle/>
          <a:p>
            <a:pPr marL="0" indent="0" algn="ctr">
              <a:buNone/>
            </a:pPr>
            <a:r>
              <a:rPr lang="en-US" sz="800" b="1" dirty="0">
                <a:solidFill>
                  <a:srgbClr val="5EEAD4"/>
                </a:solidFill>
                <a:latin typeface="Calibri" pitchFamily="34" charset="0"/>
                <a:ea typeface="Calibri" pitchFamily="34" charset="-122"/>
                <a:cs typeface="Calibri" pitchFamily="34" charset="-120"/>
              </a:rPr>
              <a:t>Analytics</a:t>
            </a:r>
            <a:endParaRPr lang="en-US" sz="800" dirty="0"/>
          </a:p>
        </p:txBody>
      </p:sp>
      <p:sp>
        <p:nvSpPr>
          <p:cNvPr id="38" name="Text 36"/>
          <p:cNvSpPr/>
          <p:nvPr/>
        </p:nvSpPr>
        <p:spPr>
          <a:xfrm>
            <a:off x="5449824" y="2743200"/>
            <a:ext cx="3419856" cy="274320"/>
          </a:xfrm>
          <a:prstGeom prst="rect">
            <a:avLst/>
          </a:prstGeom>
          <a:noFill/>
          <a:ln/>
        </p:spPr>
        <p:txBody>
          <a:bodyPr wrap="square" lIns="0" tIns="0" rIns="0" bIns="0"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Usage Analytics</a:t>
            </a:r>
            <a:endParaRPr lang="en-US" sz="1200" dirty="0"/>
          </a:p>
        </p:txBody>
      </p:sp>
      <p:sp>
        <p:nvSpPr>
          <p:cNvPr id="39" name="Text 37"/>
          <p:cNvSpPr/>
          <p:nvPr/>
        </p:nvSpPr>
        <p:spPr>
          <a:xfrm>
            <a:off x="5449824" y="3035808"/>
            <a:ext cx="3419856" cy="384048"/>
          </a:xfrm>
          <a:prstGeom prst="rect">
            <a:avLst/>
          </a:prstGeom>
          <a:noFill/>
          <a:ln/>
        </p:spPr>
        <p:txBody>
          <a:bodyPr wrap="square" lIns="0" tIns="0" rIns="0" bIns="0" rtlCol="0" anchor="ctr"/>
          <a:lstStyle/>
          <a:p>
            <a:pPr marL="0" indent="0" algn="l">
              <a:buNone/>
            </a:pPr>
            <a:r>
              <a:rPr lang="en-US" sz="950" dirty="0">
                <a:solidFill>
                  <a:srgbClr val="CBD5E1"/>
                </a:solidFill>
                <a:latin typeface="Calibri" pitchFamily="34" charset="0"/>
                <a:ea typeface="Calibri" pitchFamily="34" charset="-122"/>
                <a:cs typeface="Calibri" pitchFamily="34" charset="-120"/>
              </a:rPr>
              <a:t>Storage charts, upload frequency, file type breakdown dashboard.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731520"/>
            <a:ext cx="3200400" cy="3200400"/>
          </a:xfrm>
          <a:prstGeom prst="ellipse">
            <a:avLst/>
          </a:prstGeom>
          <a:solidFill>
            <a:srgbClr val="0D9488">
              <a:alpha val="12000"/>
            </a:srgbClr>
          </a:solidFill>
          <a:ln w="12700">
            <a:solidFill>
              <a:srgbClr val="0D9488"/>
            </a:solidFill>
            <a:prstDash val="solid"/>
          </a:ln>
        </p:spPr>
      </p:sp>
      <p:sp>
        <p:nvSpPr>
          <p:cNvPr id="3" name="Shape 1"/>
          <p:cNvSpPr/>
          <p:nvPr/>
        </p:nvSpPr>
        <p:spPr>
          <a:xfrm>
            <a:off x="-731520" y="3200400"/>
            <a:ext cx="2743200" cy="2743200"/>
          </a:xfrm>
          <a:prstGeom prst="ellipse">
            <a:avLst/>
          </a:prstGeom>
          <a:solidFill>
            <a:srgbClr val="065A82">
              <a:alpha val="15000"/>
            </a:srgbClr>
          </a:solidFill>
          <a:ln w="12700">
            <a:solidFill>
              <a:srgbClr val="065A82"/>
            </a:solidFill>
            <a:prstDash val="solid"/>
          </a:ln>
        </p:spPr>
      </p:sp>
      <p:sp>
        <p:nvSpPr>
          <p:cNvPr id="4" name="Text 2"/>
          <p:cNvSpPr/>
          <p:nvPr/>
        </p:nvSpPr>
        <p:spPr>
          <a:xfrm>
            <a:off x="457200" y="256032"/>
            <a:ext cx="8229600" cy="640080"/>
          </a:xfrm>
          <a:prstGeom prst="rect">
            <a:avLst/>
          </a:prstGeom>
          <a:noFill/>
          <a:ln/>
        </p:spPr>
        <p:txBody>
          <a:bodyPr wrap="square" rtlCol="0" anchor="ctr"/>
          <a:lstStyle/>
          <a:p>
            <a:pPr marL="0" indent="0" algn="ctr">
              <a:buNone/>
            </a:pPr>
            <a:r>
              <a:rPr lang="en-US" sz="3800" dirty="0">
                <a:solidFill>
                  <a:srgbClr val="5EEAD4"/>
                </a:solidFill>
              </a:rPr>
              <a:t>👥</a:t>
            </a:r>
            <a:endParaRPr lang="en-US" sz="3800" dirty="0"/>
          </a:p>
        </p:txBody>
      </p:sp>
      <p:sp>
        <p:nvSpPr>
          <p:cNvPr id="5" name="Text 3"/>
          <p:cNvSpPr/>
          <p:nvPr/>
        </p:nvSpPr>
        <p:spPr>
          <a:xfrm>
            <a:off x="457200" y="868680"/>
            <a:ext cx="8229600" cy="530352"/>
          </a:xfrm>
          <a:prstGeom prst="rect">
            <a:avLst/>
          </a:prstGeom>
          <a:noFill/>
          <a:ln/>
        </p:spPr>
        <p:txBody>
          <a:bodyPr wrap="square" lIns="0" tIns="0" rIns="0" bIns="0"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Project Contributors</a:t>
            </a:r>
            <a:endParaRPr lang="en-US" sz="3200" dirty="0"/>
          </a:p>
        </p:txBody>
      </p:sp>
      <p:sp>
        <p:nvSpPr>
          <p:cNvPr id="6" name="Text 4"/>
          <p:cNvSpPr/>
          <p:nvPr/>
        </p:nvSpPr>
        <p:spPr>
          <a:xfrm>
            <a:off x="457200" y="1417320"/>
            <a:ext cx="8229600" cy="256032"/>
          </a:xfrm>
          <a:prstGeom prst="rect">
            <a:avLst/>
          </a:prstGeom>
          <a:noFill/>
          <a:ln/>
        </p:spPr>
        <p:txBody>
          <a:bodyPr wrap="square" lIns="0" tIns="0" rIns="0" bIns="0" rtlCol="0" anchor="ctr"/>
          <a:lstStyle/>
          <a:p>
            <a:pPr marL="0" indent="0" algn="ctr">
              <a:buNone/>
            </a:pPr>
            <a:r>
              <a:rPr lang="en-US" sz="1100" kern="0" spc="200" dirty="0">
                <a:solidFill>
                  <a:srgbClr val="0D9488"/>
                </a:solidFill>
                <a:latin typeface="Calibri" pitchFamily="34" charset="0"/>
                <a:ea typeface="Calibri" pitchFamily="34" charset="-122"/>
                <a:cs typeface="Calibri" pitchFamily="34" charset="-120"/>
              </a:rPr>
              <a:t>TechCrush Bootcamp  //  Group 1  //  Capstone 2026</a:t>
            </a:r>
            <a:endParaRPr lang="en-US" sz="1100" dirty="0"/>
          </a:p>
        </p:txBody>
      </p:sp>
      <p:sp>
        <p:nvSpPr>
          <p:cNvPr id="7" name="Shape 5"/>
          <p:cNvSpPr/>
          <p:nvPr/>
        </p:nvSpPr>
        <p:spPr>
          <a:xfrm>
            <a:off x="3474720" y="1737360"/>
            <a:ext cx="2194560" cy="36576"/>
          </a:xfrm>
          <a:prstGeom prst="rect">
            <a:avLst/>
          </a:prstGeom>
          <a:solidFill>
            <a:srgbClr val="0D9488"/>
          </a:solidFill>
          <a:ln w="12700">
            <a:solidFill>
              <a:srgbClr val="0D9488"/>
            </a:solidFill>
            <a:prstDash val="solid"/>
          </a:ln>
        </p:spPr>
      </p:sp>
      <p:sp>
        <p:nvSpPr>
          <p:cNvPr id="8" name="Shape 6"/>
          <p:cNvSpPr/>
          <p:nvPr/>
        </p:nvSpPr>
        <p:spPr>
          <a:xfrm>
            <a:off x="347472" y="192024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9" name="Shape 7"/>
          <p:cNvSpPr/>
          <p:nvPr/>
        </p:nvSpPr>
        <p:spPr>
          <a:xfrm>
            <a:off x="457200" y="2048256"/>
            <a:ext cx="54864" cy="530352"/>
          </a:xfrm>
          <a:prstGeom prst="roundRect">
            <a:avLst>
              <a:gd name="adj" fmla="val 50000"/>
            </a:avLst>
          </a:prstGeom>
          <a:solidFill>
            <a:srgbClr val="0D9488"/>
          </a:solidFill>
          <a:ln w="12700">
            <a:solidFill>
              <a:srgbClr val="0D9488"/>
            </a:solidFill>
            <a:prstDash val="solid"/>
          </a:ln>
        </p:spPr>
      </p:sp>
      <p:sp>
        <p:nvSpPr>
          <p:cNvPr id="10" name="Text 8"/>
          <p:cNvSpPr/>
          <p:nvPr/>
        </p:nvSpPr>
        <p:spPr>
          <a:xfrm>
            <a:off x="576072" y="208483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1</a:t>
            </a:r>
            <a:endParaRPr lang="en-US" sz="1100" dirty="0"/>
          </a:p>
        </p:txBody>
      </p:sp>
      <p:sp>
        <p:nvSpPr>
          <p:cNvPr id="11" name="Text 9"/>
          <p:cNvSpPr/>
          <p:nvPr/>
        </p:nvSpPr>
        <p:spPr>
          <a:xfrm>
            <a:off x="941832" y="210312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Oresanya Tumilara</a:t>
            </a:r>
            <a:endParaRPr lang="en-US" sz="1150" dirty="0"/>
          </a:p>
        </p:txBody>
      </p:sp>
      <p:sp>
        <p:nvSpPr>
          <p:cNvPr id="12" name="Shape 10"/>
          <p:cNvSpPr/>
          <p:nvPr/>
        </p:nvSpPr>
        <p:spPr>
          <a:xfrm>
            <a:off x="3319272" y="192024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3" name="Shape 11"/>
          <p:cNvSpPr/>
          <p:nvPr/>
        </p:nvSpPr>
        <p:spPr>
          <a:xfrm>
            <a:off x="3429000" y="2048256"/>
            <a:ext cx="54864" cy="530352"/>
          </a:xfrm>
          <a:prstGeom prst="roundRect">
            <a:avLst>
              <a:gd name="adj" fmla="val 50000"/>
            </a:avLst>
          </a:prstGeom>
          <a:solidFill>
            <a:srgbClr val="0D9488"/>
          </a:solidFill>
          <a:ln w="12700">
            <a:solidFill>
              <a:srgbClr val="0D9488"/>
            </a:solidFill>
            <a:prstDash val="solid"/>
          </a:ln>
        </p:spPr>
      </p:sp>
      <p:sp>
        <p:nvSpPr>
          <p:cNvPr id="14" name="Text 12"/>
          <p:cNvSpPr/>
          <p:nvPr/>
        </p:nvSpPr>
        <p:spPr>
          <a:xfrm>
            <a:off x="3547872" y="208483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2</a:t>
            </a:r>
            <a:endParaRPr lang="en-US" sz="1100" dirty="0"/>
          </a:p>
        </p:txBody>
      </p:sp>
      <p:sp>
        <p:nvSpPr>
          <p:cNvPr id="15" name="Text 13"/>
          <p:cNvSpPr/>
          <p:nvPr/>
        </p:nvSpPr>
        <p:spPr>
          <a:xfrm>
            <a:off x="3913632" y="210312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Otulagun Paul Olaoluwa</a:t>
            </a:r>
            <a:endParaRPr lang="en-US" sz="1150" dirty="0"/>
          </a:p>
        </p:txBody>
      </p:sp>
      <p:sp>
        <p:nvSpPr>
          <p:cNvPr id="16" name="Shape 14"/>
          <p:cNvSpPr/>
          <p:nvPr/>
        </p:nvSpPr>
        <p:spPr>
          <a:xfrm>
            <a:off x="6291072" y="192024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17" name="Shape 15"/>
          <p:cNvSpPr/>
          <p:nvPr/>
        </p:nvSpPr>
        <p:spPr>
          <a:xfrm>
            <a:off x="6400800" y="2048256"/>
            <a:ext cx="54864" cy="530352"/>
          </a:xfrm>
          <a:prstGeom prst="roundRect">
            <a:avLst>
              <a:gd name="adj" fmla="val 50000"/>
            </a:avLst>
          </a:prstGeom>
          <a:solidFill>
            <a:srgbClr val="0D9488"/>
          </a:solidFill>
          <a:ln w="12700">
            <a:solidFill>
              <a:srgbClr val="0D9488"/>
            </a:solidFill>
            <a:prstDash val="solid"/>
          </a:ln>
        </p:spPr>
      </p:sp>
      <p:sp>
        <p:nvSpPr>
          <p:cNvPr id="18" name="Text 16"/>
          <p:cNvSpPr/>
          <p:nvPr/>
        </p:nvSpPr>
        <p:spPr>
          <a:xfrm>
            <a:off x="6519672" y="208483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3</a:t>
            </a:r>
            <a:endParaRPr lang="en-US" sz="1100" dirty="0"/>
          </a:p>
        </p:txBody>
      </p:sp>
      <p:sp>
        <p:nvSpPr>
          <p:cNvPr id="19" name="Text 17"/>
          <p:cNvSpPr/>
          <p:nvPr/>
        </p:nvSpPr>
        <p:spPr>
          <a:xfrm>
            <a:off x="6885432" y="210312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Nwodi Chukwudi</a:t>
            </a:r>
            <a:endParaRPr lang="en-US" sz="1150" dirty="0"/>
          </a:p>
        </p:txBody>
      </p:sp>
      <p:sp>
        <p:nvSpPr>
          <p:cNvPr id="20" name="Shape 18"/>
          <p:cNvSpPr/>
          <p:nvPr/>
        </p:nvSpPr>
        <p:spPr>
          <a:xfrm>
            <a:off x="347472" y="288036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1" name="Shape 19"/>
          <p:cNvSpPr/>
          <p:nvPr/>
        </p:nvSpPr>
        <p:spPr>
          <a:xfrm>
            <a:off x="457200" y="3008376"/>
            <a:ext cx="54864" cy="530352"/>
          </a:xfrm>
          <a:prstGeom prst="roundRect">
            <a:avLst>
              <a:gd name="adj" fmla="val 50000"/>
            </a:avLst>
          </a:prstGeom>
          <a:solidFill>
            <a:srgbClr val="0D9488"/>
          </a:solidFill>
          <a:ln w="12700">
            <a:solidFill>
              <a:srgbClr val="0D9488"/>
            </a:solidFill>
            <a:prstDash val="solid"/>
          </a:ln>
        </p:spPr>
      </p:sp>
      <p:sp>
        <p:nvSpPr>
          <p:cNvPr id="22" name="Text 20"/>
          <p:cNvSpPr/>
          <p:nvPr/>
        </p:nvSpPr>
        <p:spPr>
          <a:xfrm>
            <a:off x="576072" y="304495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4</a:t>
            </a:r>
            <a:endParaRPr lang="en-US" sz="1100" dirty="0"/>
          </a:p>
        </p:txBody>
      </p:sp>
      <p:sp>
        <p:nvSpPr>
          <p:cNvPr id="23" name="Text 21"/>
          <p:cNvSpPr/>
          <p:nvPr/>
        </p:nvSpPr>
        <p:spPr>
          <a:xfrm>
            <a:off x="941832" y="306324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Adeniyi Raji</a:t>
            </a:r>
            <a:endParaRPr lang="en-US" sz="1150" dirty="0"/>
          </a:p>
        </p:txBody>
      </p:sp>
      <p:sp>
        <p:nvSpPr>
          <p:cNvPr id="24" name="Shape 22"/>
          <p:cNvSpPr/>
          <p:nvPr/>
        </p:nvSpPr>
        <p:spPr>
          <a:xfrm>
            <a:off x="3319272" y="288036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5" name="Shape 23"/>
          <p:cNvSpPr/>
          <p:nvPr/>
        </p:nvSpPr>
        <p:spPr>
          <a:xfrm>
            <a:off x="3429000" y="3008376"/>
            <a:ext cx="54864" cy="530352"/>
          </a:xfrm>
          <a:prstGeom prst="roundRect">
            <a:avLst>
              <a:gd name="adj" fmla="val 50000"/>
            </a:avLst>
          </a:prstGeom>
          <a:solidFill>
            <a:srgbClr val="0D9488"/>
          </a:solidFill>
          <a:ln w="12700">
            <a:solidFill>
              <a:srgbClr val="0D9488"/>
            </a:solidFill>
            <a:prstDash val="solid"/>
          </a:ln>
        </p:spPr>
      </p:sp>
      <p:sp>
        <p:nvSpPr>
          <p:cNvPr id="26" name="Text 24"/>
          <p:cNvSpPr/>
          <p:nvPr/>
        </p:nvSpPr>
        <p:spPr>
          <a:xfrm>
            <a:off x="3547872" y="304495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5</a:t>
            </a:r>
            <a:endParaRPr lang="en-US" sz="1100" dirty="0"/>
          </a:p>
        </p:txBody>
      </p:sp>
      <p:sp>
        <p:nvSpPr>
          <p:cNvPr id="27" name="Text 25"/>
          <p:cNvSpPr/>
          <p:nvPr/>
        </p:nvSpPr>
        <p:spPr>
          <a:xfrm>
            <a:off x="3913632" y="306324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Timothy Oluwatosin Olaleye</a:t>
            </a:r>
            <a:endParaRPr lang="en-US" sz="1150" dirty="0"/>
          </a:p>
        </p:txBody>
      </p:sp>
      <p:sp>
        <p:nvSpPr>
          <p:cNvPr id="28" name="Shape 26"/>
          <p:cNvSpPr/>
          <p:nvPr/>
        </p:nvSpPr>
        <p:spPr>
          <a:xfrm>
            <a:off x="6291072" y="288036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29" name="Shape 27"/>
          <p:cNvSpPr/>
          <p:nvPr/>
        </p:nvSpPr>
        <p:spPr>
          <a:xfrm>
            <a:off x="6400800" y="3008376"/>
            <a:ext cx="54864" cy="530352"/>
          </a:xfrm>
          <a:prstGeom prst="roundRect">
            <a:avLst>
              <a:gd name="adj" fmla="val 50000"/>
            </a:avLst>
          </a:prstGeom>
          <a:solidFill>
            <a:srgbClr val="0D9488"/>
          </a:solidFill>
          <a:ln w="12700">
            <a:solidFill>
              <a:srgbClr val="0D9488"/>
            </a:solidFill>
            <a:prstDash val="solid"/>
          </a:ln>
        </p:spPr>
      </p:sp>
      <p:sp>
        <p:nvSpPr>
          <p:cNvPr id="30" name="Text 28"/>
          <p:cNvSpPr/>
          <p:nvPr/>
        </p:nvSpPr>
        <p:spPr>
          <a:xfrm>
            <a:off x="6519672" y="304495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6</a:t>
            </a:r>
            <a:endParaRPr lang="en-US" sz="1100" dirty="0"/>
          </a:p>
        </p:txBody>
      </p:sp>
      <p:sp>
        <p:nvSpPr>
          <p:cNvPr id="31" name="Text 29"/>
          <p:cNvSpPr/>
          <p:nvPr/>
        </p:nvSpPr>
        <p:spPr>
          <a:xfrm>
            <a:off x="6885432" y="306324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Mary Fred</a:t>
            </a:r>
            <a:endParaRPr lang="en-US" sz="1150" dirty="0"/>
          </a:p>
        </p:txBody>
      </p:sp>
      <p:sp>
        <p:nvSpPr>
          <p:cNvPr id="32" name="Shape 30"/>
          <p:cNvSpPr/>
          <p:nvPr/>
        </p:nvSpPr>
        <p:spPr>
          <a:xfrm>
            <a:off x="347472" y="384048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3" name="Shape 31"/>
          <p:cNvSpPr/>
          <p:nvPr/>
        </p:nvSpPr>
        <p:spPr>
          <a:xfrm>
            <a:off x="457200" y="3968496"/>
            <a:ext cx="54864" cy="530352"/>
          </a:xfrm>
          <a:prstGeom prst="roundRect">
            <a:avLst>
              <a:gd name="adj" fmla="val 50000"/>
            </a:avLst>
          </a:prstGeom>
          <a:solidFill>
            <a:srgbClr val="0D9488"/>
          </a:solidFill>
          <a:ln w="12700">
            <a:solidFill>
              <a:srgbClr val="0D9488"/>
            </a:solidFill>
            <a:prstDash val="solid"/>
          </a:ln>
        </p:spPr>
      </p:sp>
      <p:sp>
        <p:nvSpPr>
          <p:cNvPr id="34" name="Text 32"/>
          <p:cNvSpPr/>
          <p:nvPr/>
        </p:nvSpPr>
        <p:spPr>
          <a:xfrm>
            <a:off x="576072" y="400507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7</a:t>
            </a:r>
            <a:endParaRPr lang="en-US" sz="1100" dirty="0"/>
          </a:p>
        </p:txBody>
      </p:sp>
      <p:sp>
        <p:nvSpPr>
          <p:cNvPr id="35" name="Text 33"/>
          <p:cNvSpPr/>
          <p:nvPr/>
        </p:nvSpPr>
        <p:spPr>
          <a:xfrm>
            <a:off x="941832" y="402336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Uchenna Monday Nwafor</a:t>
            </a:r>
            <a:endParaRPr lang="en-US" sz="1150" dirty="0"/>
          </a:p>
        </p:txBody>
      </p:sp>
      <p:sp>
        <p:nvSpPr>
          <p:cNvPr id="36" name="Shape 34"/>
          <p:cNvSpPr/>
          <p:nvPr/>
        </p:nvSpPr>
        <p:spPr>
          <a:xfrm>
            <a:off x="3319272" y="384048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37" name="Shape 35"/>
          <p:cNvSpPr/>
          <p:nvPr/>
        </p:nvSpPr>
        <p:spPr>
          <a:xfrm>
            <a:off x="3429000" y="3968496"/>
            <a:ext cx="54864" cy="530352"/>
          </a:xfrm>
          <a:prstGeom prst="roundRect">
            <a:avLst>
              <a:gd name="adj" fmla="val 50000"/>
            </a:avLst>
          </a:prstGeom>
          <a:solidFill>
            <a:srgbClr val="0D9488"/>
          </a:solidFill>
          <a:ln w="12700">
            <a:solidFill>
              <a:srgbClr val="0D9488"/>
            </a:solidFill>
            <a:prstDash val="solid"/>
          </a:ln>
        </p:spPr>
      </p:sp>
      <p:sp>
        <p:nvSpPr>
          <p:cNvPr id="38" name="Text 36"/>
          <p:cNvSpPr/>
          <p:nvPr/>
        </p:nvSpPr>
        <p:spPr>
          <a:xfrm>
            <a:off x="3547872" y="400507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8</a:t>
            </a:r>
            <a:endParaRPr lang="en-US" sz="1100" dirty="0"/>
          </a:p>
        </p:txBody>
      </p:sp>
      <p:sp>
        <p:nvSpPr>
          <p:cNvPr id="39" name="Text 37"/>
          <p:cNvSpPr/>
          <p:nvPr/>
        </p:nvSpPr>
        <p:spPr>
          <a:xfrm>
            <a:off x="3913632" y="402336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Chukwuma Chisom Linda</a:t>
            </a:r>
            <a:endParaRPr lang="en-US" sz="1150" dirty="0"/>
          </a:p>
        </p:txBody>
      </p:sp>
      <p:sp>
        <p:nvSpPr>
          <p:cNvPr id="40" name="Shape 38"/>
          <p:cNvSpPr/>
          <p:nvPr/>
        </p:nvSpPr>
        <p:spPr>
          <a:xfrm>
            <a:off x="6291072" y="3840480"/>
            <a:ext cx="2816352" cy="804672"/>
          </a:xfrm>
          <a:prstGeom prst="roundRect">
            <a:avLst>
              <a:gd name="adj" fmla="val 9091"/>
            </a:avLst>
          </a:prstGeom>
          <a:solidFill>
            <a:srgbClr val="0F2137"/>
          </a:solidFill>
          <a:ln w="10160">
            <a:solidFill>
              <a:srgbClr val="065A82"/>
            </a:solidFill>
            <a:prstDash val="solid"/>
          </a:ln>
          <a:effectLst>
            <a:outerShdw blurRad="101600" dist="38100" dir="2700000" algn="bl" rotWithShape="0">
              <a:srgbClr val="000000">
                <a:alpha val="18000"/>
              </a:srgbClr>
            </a:outerShdw>
          </a:effectLst>
        </p:spPr>
      </p:sp>
      <p:sp>
        <p:nvSpPr>
          <p:cNvPr id="41" name="Shape 39"/>
          <p:cNvSpPr/>
          <p:nvPr/>
        </p:nvSpPr>
        <p:spPr>
          <a:xfrm>
            <a:off x="6400800" y="3968496"/>
            <a:ext cx="54864" cy="530352"/>
          </a:xfrm>
          <a:prstGeom prst="roundRect">
            <a:avLst>
              <a:gd name="adj" fmla="val 50000"/>
            </a:avLst>
          </a:prstGeom>
          <a:solidFill>
            <a:srgbClr val="0D9488"/>
          </a:solidFill>
          <a:ln w="12700">
            <a:solidFill>
              <a:srgbClr val="0D9488"/>
            </a:solidFill>
            <a:prstDash val="solid"/>
          </a:ln>
        </p:spPr>
      </p:sp>
      <p:sp>
        <p:nvSpPr>
          <p:cNvPr id="42" name="Text 40"/>
          <p:cNvSpPr/>
          <p:nvPr/>
        </p:nvSpPr>
        <p:spPr>
          <a:xfrm>
            <a:off x="6519672" y="4005072"/>
            <a:ext cx="320040" cy="320040"/>
          </a:xfrm>
          <a:prstGeom prst="rect">
            <a:avLst/>
          </a:prstGeom>
          <a:noFill/>
          <a:ln/>
        </p:spPr>
        <p:txBody>
          <a:bodyPr wrap="square" lIns="0" tIns="0" rIns="0" bIns="0" rtlCol="0" anchor="ctr"/>
          <a:lstStyle/>
          <a:p>
            <a:pPr marL="0" indent="0" algn="ctr">
              <a:buNone/>
            </a:pPr>
            <a:r>
              <a:rPr lang="en-US" sz="1100" b="1" dirty="0">
                <a:solidFill>
                  <a:srgbClr val="0D9488"/>
                </a:solidFill>
                <a:latin typeface="Cambria" pitchFamily="34" charset="0"/>
                <a:ea typeface="Cambria" pitchFamily="34" charset="-122"/>
                <a:cs typeface="Cambria" pitchFamily="34" charset="-120"/>
              </a:rPr>
              <a:t>9</a:t>
            </a:r>
            <a:endParaRPr lang="en-US" sz="1100" dirty="0"/>
          </a:p>
        </p:txBody>
      </p:sp>
      <p:sp>
        <p:nvSpPr>
          <p:cNvPr id="43" name="Text 41"/>
          <p:cNvSpPr/>
          <p:nvPr/>
        </p:nvSpPr>
        <p:spPr>
          <a:xfrm>
            <a:off x="6885432" y="4023360"/>
            <a:ext cx="2121408" cy="420624"/>
          </a:xfrm>
          <a:prstGeom prst="rect">
            <a:avLst/>
          </a:prstGeom>
          <a:noFill/>
          <a:ln/>
        </p:spPr>
        <p:txBody>
          <a:bodyPr wrap="square" lIns="0" tIns="0" rIns="0" bIns="0" rtlCol="0" anchor="ctr"/>
          <a:lstStyle/>
          <a:p>
            <a:pPr marL="0" indent="0" algn="l">
              <a:buNone/>
            </a:pPr>
            <a:r>
              <a:rPr lang="en-US" sz="1150" b="1" dirty="0">
                <a:solidFill>
                  <a:srgbClr val="FFFFFF"/>
                </a:solidFill>
                <a:latin typeface="Calibri" pitchFamily="34" charset="0"/>
                <a:ea typeface="Calibri" pitchFamily="34" charset="-122"/>
                <a:cs typeface="Calibri" pitchFamily="34" charset="-120"/>
              </a:rPr>
              <a:t>Tosin Dada</a:t>
            </a:r>
            <a:endParaRPr lang="en-US" sz="1150" dirty="0"/>
          </a:p>
        </p:txBody>
      </p:sp>
      <p:sp>
        <p:nvSpPr>
          <p:cNvPr id="44" name="Shape 42"/>
          <p:cNvSpPr/>
          <p:nvPr/>
        </p:nvSpPr>
        <p:spPr>
          <a:xfrm>
            <a:off x="320040" y="4736592"/>
            <a:ext cx="8503920" cy="292608"/>
          </a:xfrm>
          <a:prstGeom prst="roundRect">
            <a:avLst>
              <a:gd name="adj" fmla="val 25000"/>
            </a:avLst>
          </a:prstGeom>
          <a:solidFill>
            <a:srgbClr val="065A82"/>
          </a:solidFill>
          <a:ln w="10160">
            <a:solidFill>
              <a:srgbClr val="065A82"/>
            </a:solidFill>
            <a:prstDash val="solid"/>
          </a:ln>
          <a:effectLst>
            <a:outerShdw blurRad="101600" dist="38100" dir="2700000" algn="bl" rotWithShape="0">
              <a:srgbClr val="000000">
                <a:alpha val="18000"/>
              </a:srgbClr>
            </a:outerShdw>
          </a:effectLst>
        </p:spPr>
      </p:sp>
      <p:sp>
        <p:nvSpPr>
          <p:cNvPr id="45" name="Text 43"/>
          <p:cNvSpPr/>
          <p:nvPr/>
        </p:nvSpPr>
        <p:spPr>
          <a:xfrm>
            <a:off x="320040" y="4736592"/>
            <a:ext cx="8503920" cy="292608"/>
          </a:xfrm>
          <a:prstGeom prst="rect">
            <a:avLst/>
          </a:prstGeom>
          <a:noFill/>
          <a:ln/>
        </p:spPr>
        <p:txBody>
          <a:bodyPr wrap="square" lIns="0" tIns="0" rIns="0" bIns="0" rtlCol="0" anchor="ctr"/>
          <a:lstStyle/>
          <a:p>
            <a:pPr marL="0" indent="0" algn="ctr">
              <a:buNone/>
            </a:pPr>
            <a:r>
              <a:rPr lang="en-US" sz="1050" dirty="0">
                <a:solidFill>
                  <a:srgbClr val="5EEAD4"/>
                </a:solidFill>
                <a:latin typeface="Calibri" pitchFamily="34" charset="0"/>
                <a:ea typeface="Calibri" pitchFamily="34" charset="-122"/>
                <a:cs typeface="Calibri" pitchFamily="34" charset="-120"/>
              </a:rPr>
              <a:t>Thank you to everyone who contributed to making CloudDrop a reality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65A82"/>
          </a:solidFill>
          <a:ln w="12700">
            <a:solidFill>
              <a:srgbClr val="065A82"/>
            </a:solidFill>
            <a:prstDash val="solid"/>
          </a:ln>
        </p:spPr>
      </p:sp>
      <p:sp>
        <p:nvSpPr>
          <p:cNvPr id="3" name="Shape 1"/>
          <p:cNvSpPr/>
          <p:nvPr/>
        </p:nvSpPr>
        <p:spPr>
          <a:xfrm>
            <a:off x="6583680" y="-914400"/>
            <a:ext cx="3657600" cy="3657600"/>
          </a:xfrm>
          <a:prstGeom prst="ellipse">
            <a:avLst/>
          </a:prstGeom>
          <a:solidFill>
            <a:srgbClr val="0D9488">
              <a:alpha val="20000"/>
            </a:srgbClr>
          </a:solidFill>
          <a:ln w="12700">
            <a:solidFill>
              <a:srgbClr val="0D9488"/>
            </a:solidFill>
            <a:prstDash val="solid"/>
          </a:ln>
        </p:spPr>
      </p:sp>
      <p:sp>
        <p:nvSpPr>
          <p:cNvPr id="4" name="Shape 2"/>
          <p:cNvSpPr/>
          <p:nvPr/>
        </p:nvSpPr>
        <p:spPr>
          <a:xfrm>
            <a:off x="-914400" y="2926080"/>
            <a:ext cx="3200400" cy="3200400"/>
          </a:xfrm>
          <a:prstGeom prst="ellipse">
            <a:avLst/>
          </a:prstGeom>
          <a:solidFill>
            <a:srgbClr val="000000">
              <a:alpha val="40000"/>
            </a:srgbClr>
          </a:solidFill>
          <a:ln w="12700">
            <a:solidFill>
              <a:srgbClr val="0D9488"/>
            </a:solidFill>
            <a:prstDash val="solid"/>
          </a:ln>
        </p:spPr>
      </p:sp>
      <p:sp>
        <p:nvSpPr>
          <p:cNvPr id="5" name="Text 3"/>
          <p:cNvSpPr/>
          <p:nvPr/>
        </p:nvSpPr>
        <p:spPr>
          <a:xfrm>
            <a:off x="457200" y="164592"/>
            <a:ext cx="8229600" cy="822960"/>
          </a:xfrm>
          <a:prstGeom prst="rect">
            <a:avLst/>
          </a:prstGeom>
          <a:noFill/>
          <a:ln/>
        </p:spPr>
        <p:txBody>
          <a:bodyPr wrap="square" rtlCol="0" anchor="ctr"/>
          <a:lstStyle/>
          <a:p>
            <a:pPr marL="0" indent="0" algn="ctr">
              <a:buNone/>
            </a:pPr>
            <a:r>
              <a:rPr lang="en-US" sz="4600" dirty="0">
                <a:solidFill>
                  <a:srgbClr val="5EEAD4"/>
                </a:solidFill>
              </a:rPr>
              <a:t>☁</a:t>
            </a:r>
            <a:endParaRPr lang="en-US" sz="4600" dirty="0"/>
          </a:p>
        </p:txBody>
      </p:sp>
      <p:sp>
        <p:nvSpPr>
          <p:cNvPr id="6" name="Text 4"/>
          <p:cNvSpPr/>
          <p:nvPr/>
        </p:nvSpPr>
        <p:spPr>
          <a:xfrm>
            <a:off x="457200" y="960120"/>
            <a:ext cx="8229600" cy="59436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CloudDrop</a:t>
            </a:r>
            <a:endParaRPr lang="en-US" sz="3800" dirty="0"/>
          </a:p>
        </p:txBody>
      </p:sp>
      <p:sp>
        <p:nvSpPr>
          <p:cNvPr id="7" name="Text 5"/>
          <p:cNvSpPr/>
          <p:nvPr/>
        </p:nvSpPr>
        <p:spPr>
          <a:xfrm>
            <a:off x="457200" y="1581912"/>
            <a:ext cx="8229600" cy="320040"/>
          </a:xfrm>
          <a:prstGeom prst="rect">
            <a:avLst/>
          </a:prstGeom>
          <a:noFill/>
          <a:ln/>
        </p:spPr>
        <p:txBody>
          <a:bodyPr wrap="square" lIns="0" tIns="0" rIns="0" bIns="0" rtlCol="0" anchor="ctr"/>
          <a:lstStyle/>
          <a:p>
            <a:pPr marL="0" indent="0" algn="ctr">
              <a:buNone/>
            </a:pPr>
            <a:r>
              <a:rPr lang="en-US" sz="1500" dirty="0">
                <a:solidFill>
                  <a:srgbClr val="5EEAD4"/>
                </a:solidFill>
                <a:latin typeface="Calibri" pitchFamily="34" charset="0"/>
                <a:ea typeface="Calibri" pitchFamily="34" charset="-122"/>
                <a:cs typeface="Calibri" pitchFamily="34" charset="-120"/>
              </a:rPr>
              <a:t>Built. Deployed. Delivered.</a:t>
            </a:r>
            <a:endParaRPr lang="en-US" sz="1500" dirty="0"/>
          </a:p>
        </p:txBody>
      </p:sp>
      <p:sp>
        <p:nvSpPr>
          <p:cNvPr id="8" name="Shape 6"/>
          <p:cNvSpPr/>
          <p:nvPr/>
        </p:nvSpPr>
        <p:spPr>
          <a:xfrm>
            <a:off x="3200400" y="1984248"/>
            <a:ext cx="2743200" cy="36576"/>
          </a:xfrm>
          <a:prstGeom prst="rect">
            <a:avLst/>
          </a:prstGeom>
          <a:solidFill>
            <a:srgbClr val="5EEAD4"/>
          </a:solidFill>
          <a:ln w="12700">
            <a:solidFill>
              <a:srgbClr val="5EEAD4"/>
            </a:solidFill>
            <a:prstDash val="solid"/>
          </a:ln>
        </p:spPr>
      </p:sp>
      <p:sp>
        <p:nvSpPr>
          <p:cNvPr id="9" name="Text 7"/>
          <p:cNvSpPr/>
          <p:nvPr/>
        </p:nvSpPr>
        <p:spPr>
          <a:xfrm>
            <a:off x="731520" y="2084832"/>
            <a:ext cx="7680960" cy="713232"/>
          </a:xfrm>
          <a:prstGeom prst="rect">
            <a:avLst/>
          </a:prstGeom>
          <a:noFill/>
          <a:ln/>
        </p:spPr>
        <p:txBody>
          <a:bodyPr wrap="square" lIns="0" tIns="0" rIns="0" bIns="0" rtlCol="0" anchor="ctr"/>
          <a:lstStyle/>
          <a:p>
            <a:pPr marL="0" indent="0" algn="ctr">
              <a:buNone/>
            </a:pPr>
            <a:r>
              <a:rPr lang="en-US" sz="1200" dirty="0">
                <a:solidFill>
                  <a:srgbClr val="CBD5E1"/>
                </a:solidFill>
                <a:latin typeface="Calibri" pitchFamily="34" charset="0"/>
                <a:ea typeface="Calibri" pitchFamily="34" charset="-122"/>
                <a:cs typeface="Calibri" pitchFamily="34" charset="-120"/>
              </a:rPr>
              <a:t>CloudDrop is a fully working, production-deployed cloud application. Four AWS services integrated. Four real technical problems solved. An automated CI/CD pipeline that deployed 11 times successfully.</a:t>
            </a:r>
            <a:endParaRPr lang="en-US" sz="1200" dirty="0"/>
          </a:p>
        </p:txBody>
      </p:sp>
      <p:sp>
        <p:nvSpPr>
          <p:cNvPr id="10" name="Shape 8"/>
          <p:cNvSpPr/>
          <p:nvPr/>
        </p:nvSpPr>
        <p:spPr>
          <a:xfrm>
            <a:off x="1645920" y="2852928"/>
            <a:ext cx="5852160" cy="475488"/>
          </a:xfrm>
          <a:prstGeom prst="roundRect">
            <a:avLst>
              <a:gd name="adj" fmla="val 13462"/>
            </a:avLst>
          </a:prstGeom>
          <a:solidFill>
            <a:srgbClr val="0D9488"/>
          </a:solidFill>
          <a:ln w="25400">
            <a:solidFill>
              <a:srgbClr val="5EEAD4"/>
            </a:solidFill>
            <a:prstDash val="solid"/>
          </a:ln>
        </p:spPr>
      </p:sp>
      <p:sp>
        <p:nvSpPr>
          <p:cNvPr id="11" name="Text 9"/>
          <p:cNvSpPr/>
          <p:nvPr/>
        </p:nvSpPr>
        <p:spPr>
          <a:xfrm>
            <a:off x="1645920" y="2852928"/>
            <a:ext cx="5852160" cy="475488"/>
          </a:xfrm>
          <a:prstGeom prst="rect">
            <a:avLst/>
          </a:prstGeom>
          <a:noFill/>
          <a:ln/>
        </p:spPr>
        <p:txBody>
          <a:bodyPr wrap="square" lIns="0" tIns="0" rIns="0" bIns="0" rtlCol="0" anchor="ctr"/>
          <a:lstStyle/>
          <a:p>
            <a:pPr marL="0" indent="0" algn="ctr">
              <a:buNone/>
            </a:pPr>
            <a:r>
              <a:rPr lang="en-US" sz="1300" b="1" dirty="0">
                <a:solidFill>
                  <a:srgbClr val="0A1628"/>
                </a:solidFill>
                <a:latin typeface="Calibri" pitchFamily="34" charset="0"/>
                <a:ea typeface="Calibri" pitchFamily="34" charset="-122"/>
                <a:cs typeface="Calibri" pitchFamily="34" charset="-120"/>
              </a:rPr>
              <a:t>🌐  LIVE APP: </a:t>
            </a:r>
            <a:r>
              <a:rPr lang="en-US" sz="1400" b="1" u="sng" dirty="0">
                <a:solidFill>
                  <a:srgbClr val="0A1628"/>
                </a:solidFill>
                <a:latin typeface="Courier New" pitchFamily="34" charset="0"/>
                <a:ea typeface="Courier New" pitchFamily="34" charset="-122"/>
                <a:cs typeface="Courier New" pitchFamily="34" charset="-120"/>
              </a:rPr>
              <a:t>d2q0tos3eezbrk.cloudfront.net</a:t>
            </a:r>
            <a:endParaRPr lang="en-US" sz="1300" dirty="0"/>
          </a:p>
        </p:txBody>
      </p:sp>
      <p:sp>
        <p:nvSpPr>
          <p:cNvPr id="12" name="Shape 10"/>
          <p:cNvSpPr/>
          <p:nvPr/>
        </p:nvSpPr>
        <p:spPr>
          <a:xfrm>
            <a:off x="210312" y="3474720"/>
            <a:ext cx="822960" cy="256032"/>
          </a:xfrm>
          <a:prstGeom prst="roundRect">
            <a:avLst>
              <a:gd name="adj" fmla="val 17857"/>
            </a:avLst>
          </a:prstGeom>
          <a:solidFill>
            <a:srgbClr val="0A1628"/>
          </a:solidFill>
          <a:ln w="10160">
            <a:solidFill>
              <a:srgbClr val="0D9488"/>
            </a:solidFill>
            <a:prstDash val="solid"/>
          </a:ln>
        </p:spPr>
      </p:sp>
      <p:sp>
        <p:nvSpPr>
          <p:cNvPr id="13" name="Text 11"/>
          <p:cNvSpPr/>
          <p:nvPr/>
        </p:nvSpPr>
        <p:spPr>
          <a:xfrm>
            <a:off x="210312"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AWS S3</a:t>
            </a:r>
            <a:endParaRPr lang="en-US" sz="750" dirty="0"/>
          </a:p>
        </p:txBody>
      </p:sp>
      <p:sp>
        <p:nvSpPr>
          <p:cNvPr id="14" name="Shape 12"/>
          <p:cNvSpPr/>
          <p:nvPr/>
        </p:nvSpPr>
        <p:spPr>
          <a:xfrm>
            <a:off x="1088136" y="3474720"/>
            <a:ext cx="822960" cy="256032"/>
          </a:xfrm>
          <a:prstGeom prst="roundRect">
            <a:avLst>
              <a:gd name="adj" fmla="val 17857"/>
            </a:avLst>
          </a:prstGeom>
          <a:solidFill>
            <a:srgbClr val="0A1628"/>
          </a:solidFill>
          <a:ln w="10160">
            <a:solidFill>
              <a:srgbClr val="0D9488"/>
            </a:solidFill>
            <a:prstDash val="solid"/>
          </a:ln>
        </p:spPr>
      </p:sp>
      <p:sp>
        <p:nvSpPr>
          <p:cNvPr id="15" name="Text 13"/>
          <p:cNvSpPr/>
          <p:nvPr/>
        </p:nvSpPr>
        <p:spPr>
          <a:xfrm>
            <a:off x="1088136"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CloudFront</a:t>
            </a:r>
            <a:endParaRPr lang="en-US" sz="750" dirty="0"/>
          </a:p>
        </p:txBody>
      </p:sp>
      <p:sp>
        <p:nvSpPr>
          <p:cNvPr id="16" name="Shape 14"/>
          <p:cNvSpPr/>
          <p:nvPr/>
        </p:nvSpPr>
        <p:spPr>
          <a:xfrm>
            <a:off x="1965960" y="3474720"/>
            <a:ext cx="822960" cy="256032"/>
          </a:xfrm>
          <a:prstGeom prst="roundRect">
            <a:avLst>
              <a:gd name="adj" fmla="val 17857"/>
            </a:avLst>
          </a:prstGeom>
          <a:solidFill>
            <a:srgbClr val="0A1628"/>
          </a:solidFill>
          <a:ln w="10160">
            <a:solidFill>
              <a:srgbClr val="0D9488"/>
            </a:solidFill>
            <a:prstDash val="solid"/>
          </a:ln>
        </p:spPr>
      </p:sp>
      <p:sp>
        <p:nvSpPr>
          <p:cNvPr id="17" name="Text 15"/>
          <p:cNvSpPr/>
          <p:nvPr/>
        </p:nvSpPr>
        <p:spPr>
          <a:xfrm>
            <a:off x="1965960"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WAF</a:t>
            </a:r>
            <a:endParaRPr lang="en-US" sz="750" dirty="0"/>
          </a:p>
        </p:txBody>
      </p:sp>
      <p:sp>
        <p:nvSpPr>
          <p:cNvPr id="18" name="Shape 16"/>
          <p:cNvSpPr/>
          <p:nvPr/>
        </p:nvSpPr>
        <p:spPr>
          <a:xfrm>
            <a:off x="2843784" y="3474720"/>
            <a:ext cx="822960" cy="256032"/>
          </a:xfrm>
          <a:prstGeom prst="roundRect">
            <a:avLst>
              <a:gd name="adj" fmla="val 17857"/>
            </a:avLst>
          </a:prstGeom>
          <a:solidFill>
            <a:srgbClr val="0A1628"/>
          </a:solidFill>
          <a:ln w="10160">
            <a:solidFill>
              <a:srgbClr val="0D9488"/>
            </a:solidFill>
            <a:prstDash val="solid"/>
          </a:ln>
        </p:spPr>
      </p:sp>
      <p:sp>
        <p:nvSpPr>
          <p:cNvPr id="19" name="Text 17"/>
          <p:cNvSpPr/>
          <p:nvPr/>
        </p:nvSpPr>
        <p:spPr>
          <a:xfrm>
            <a:off x="2843784"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EC2+Nginx</a:t>
            </a:r>
            <a:endParaRPr lang="en-US" sz="750" dirty="0"/>
          </a:p>
        </p:txBody>
      </p:sp>
      <p:sp>
        <p:nvSpPr>
          <p:cNvPr id="20" name="Shape 18"/>
          <p:cNvSpPr/>
          <p:nvPr/>
        </p:nvSpPr>
        <p:spPr>
          <a:xfrm>
            <a:off x="3721608" y="3474720"/>
            <a:ext cx="822960" cy="256032"/>
          </a:xfrm>
          <a:prstGeom prst="roundRect">
            <a:avLst>
              <a:gd name="adj" fmla="val 17857"/>
            </a:avLst>
          </a:prstGeom>
          <a:solidFill>
            <a:srgbClr val="0A1628"/>
          </a:solidFill>
          <a:ln w="10160">
            <a:solidFill>
              <a:srgbClr val="0D9488"/>
            </a:solidFill>
            <a:prstDash val="solid"/>
          </a:ln>
        </p:spPr>
      </p:sp>
      <p:sp>
        <p:nvSpPr>
          <p:cNvPr id="21" name="Text 19"/>
          <p:cNvSpPr/>
          <p:nvPr/>
        </p:nvSpPr>
        <p:spPr>
          <a:xfrm>
            <a:off x="3721608"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PostgreSQL RDS</a:t>
            </a:r>
            <a:endParaRPr lang="en-US" sz="750" dirty="0"/>
          </a:p>
        </p:txBody>
      </p:sp>
      <p:sp>
        <p:nvSpPr>
          <p:cNvPr id="22" name="Shape 20"/>
          <p:cNvSpPr/>
          <p:nvPr/>
        </p:nvSpPr>
        <p:spPr>
          <a:xfrm>
            <a:off x="4599432" y="3474720"/>
            <a:ext cx="822960" cy="256032"/>
          </a:xfrm>
          <a:prstGeom prst="roundRect">
            <a:avLst>
              <a:gd name="adj" fmla="val 17857"/>
            </a:avLst>
          </a:prstGeom>
          <a:solidFill>
            <a:srgbClr val="0A1628"/>
          </a:solidFill>
          <a:ln w="10160">
            <a:solidFill>
              <a:srgbClr val="0D9488"/>
            </a:solidFill>
            <a:prstDash val="solid"/>
          </a:ln>
        </p:spPr>
      </p:sp>
      <p:sp>
        <p:nvSpPr>
          <p:cNvPr id="23" name="Text 21"/>
          <p:cNvSpPr/>
          <p:nvPr/>
        </p:nvSpPr>
        <p:spPr>
          <a:xfrm>
            <a:off x="4599432"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React+Vite</a:t>
            </a:r>
            <a:endParaRPr lang="en-US" sz="750" dirty="0"/>
          </a:p>
        </p:txBody>
      </p:sp>
      <p:sp>
        <p:nvSpPr>
          <p:cNvPr id="24" name="Shape 22"/>
          <p:cNvSpPr/>
          <p:nvPr/>
        </p:nvSpPr>
        <p:spPr>
          <a:xfrm>
            <a:off x="5477256" y="3474720"/>
            <a:ext cx="822960" cy="256032"/>
          </a:xfrm>
          <a:prstGeom prst="roundRect">
            <a:avLst>
              <a:gd name="adj" fmla="val 17857"/>
            </a:avLst>
          </a:prstGeom>
          <a:solidFill>
            <a:srgbClr val="0A1628"/>
          </a:solidFill>
          <a:ln w="10160">
            <a:solidFill>
              <a:srgbClr val="0D9488"/>
            </a:solidFill>
            <a:prstDash val="solid"/>
          </a:ln>
        </p:spPr>
      </p:sp>
      <p:sp>
        <p:nvSpPr>
          <p:cNvPr id="25" name="Text 23"/>
          <p:cNvSpPr/>
          <p:nvPr/>
        </p:nvSpPr>
        <p:spPr>
          <a:xfrm>
            <a:off x="5477256"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Node.js</a:t>
            </a:r>
            <a:endParaRPr lang="en-US" sz="750" dirty="0"/>
          </a:p>
        </p:txBody>
      </p:sp>
      <p:sp>
        <p:nvSpPr>
          <p:cNvPr id="26" name="Shape 24"/>
          <p:cNvSpPr/>
          <p:nvPr/>
        </p:nvSpPr>
        <p:spPr>
          <a:xfrm>
            <a:off x="6355080" y="3474720"/>
            <a:ext cx="822960" cy="256032"/>
          </a:xfrm>
          <a:prstGeom prst="roundRect">
            <a:avLst>
              <a:gd name="adj" fmla="val 17857"/>
            </a:avLst>
          </a:prstGeom>
          <a:solidFill>
            <a:srgbClr val="0A1628"/>
          </a:solidFill>
          <a:ln w="10160">
            <a:solidFill>
              <a:srgbClr val="0D9488"/>
            </a:solidFill>
            <a:prstDash val="solid"/>
          </a:ln>
        </p:spPr>
      </p:sp>
      <p:sp>
        <p:nvSpPr>
          <p:cNvPr id="27" name="Text 25"/>
          <p:cNvSpPr/>
          <p:nvPr/>
        </p:nvSpPr>
        <p:spPr>
          <a:xfrm>
            <a:off x="6355080"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GitHub Actions</a:t>
            </a:r>
            <a:endParaRPr lang="en-US" sz="750" dirty="0"/>
          </a:p>
        </p:txBody>
      </p:sp>
      <p:sp>
        <p:nvSpPr>
          <p:cNvPr id="28" name="Shape 26"/>
          <p:cNvSpPr/>
          <p:nvPr/>
        </p:nvSpPr>
        <p:spPr>
          <a:xfrm>
            <a:off x="7232904" y="3474720"/>
            <a:ext cx="822960" cy="256032"/>
          </a:xfrm>
          <a:prstGeom prst="roundRect">
            <a:avLst>
              <a:gd name="adj" fmla="val 17857"/>
            </a:avLst>
          </a:prstGeom>
          <a:solidFill>
            <a:srgbClr val="0A1628"/>
          </a:solidFill>
          <a:ln w="10160">
            <a:solidFill>
              <a:srgbClr val="0D9488"/>
            </a:solidFill>
            <a:prstDash val="solid"/>
          </a:ln>
        </p:spPr>
      </p:sp>
      <p:sp>
        <p:nvSpPr>
          <p:cNvPr id="29" name="Text 27"/>
          <p:cNvSpPr/>
          <p:nvPr/>
        </p:nvSpPr>
        <p:spPr>
          <a:xfrm>
            <a:off x="7232904"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PM2</a:t>
            </a:r>
            <a:endParaRPr lang="en-US" sz="750" dirty="0"/>
          </a:p>
        </p:txBody>
      </p:sp>
      <p:sp>
        <p:nvSpPr>
          <p:cNvPr id="30" name="Shape 28"/>
          <p:cNvSpPr/>
          <p:nvPr/>
        </p:nvSpPr>
        <p:spPr>
          <a:xfrm>
            <a:off x="8110728" y="3474720"/>
            <a:ext cx="822960" cy="256032"/>
          </a:xfrm>
          <a:prstGeom prst="roundRect">
            <a:avLst>
              <a:gd name="adj" fmla="val 17857"/>
            </a:avLst>
          </a:prstGeom>
          <a:solidFill>
            <a:srgbClr val="0A1628"/>
          </a:solidFill>
          <a:ln w="10160">
            <a:solidFill>
              <a:srgbClr val="0D9488"/>
            </a:solidFill>
            <a:prstDash val="solid"/>
          </a:ln>
        </p:spPr>
      </p:sp>
      <p:sp>
        <p:nvSpPr>
          <p:cNvPr id="31" name="Text 29"/>
          <p:cNvSpPr/>
          <p:nvPr/>
        </p:nvSpPr>
        <p:spPr>
          <a:xfrm>
            <a:off x="8110728" y="3474720"/>
            <a:ext cx="822960" cy="256032"/>
          </a:xfrm>
          <a:prstGeom prst="rect">
            <a:avLst/>
          </a:prstGeom>
          <a:noFill/>
          <a:ln/>
        </p:spPr>
        <p:txBody>
          <a:bodyPr wrap="square" lIns="0" tIns="0" rIns="0" bIns="0" rtlCol="0" anchor="ctr"/>
          <a:lstStyle/>
          <a:p>
            <a:pPr marL="0" indent="0" algn="ctr">
              <a:buNone/>
            </a:pPr>
            <a:r>
              <a:rPr lang="en-US" sz="750" b="1" dirty="0">
                <a:solidFill>
                  <a:srgbClr val="5EEAD4"/>
                </a:solidFill>
                <a:latin typeface="Calibri" pitchFamily="34" charset="0"/>
                <a:ea typeface="Calibri" pitchFamily="34" charset="-122"/>
                <a:cs typeface="Calibri" pitchFamily="34" charset="-120"/>
              </a:rPr>
              <a:t>CI/CD</a:t>
            </a:r>
            <a:endParaRPr lang="en-US" sz="750" dirty="0"/>
          </a:p>
        </p:txBody>
      </p:sp>
      <p:sp>
        <p:nvSpPr>
          <p:cNvPr id="32" name="Text 30"/>
          <p:cNvSpPr/>
          <p:nvPr/>
        </p:nvSpPr>
        <p:spPr>
          <a:xfrm>
            <a:off x="457200" y="3858768"/>
            <a:ext cx="8229600" cy="320040"/>
          </a:xfrm>
          <a:prstGeom prst="rect">
            <a:avLst/>
          </a:prstGeom>
          <a:noFill/>
          <a:ln/>
        </p:spPr>
        <p:txBody>
          <a:bodyPr wrap="square" lIns="0" tIns="0" rIns="0" bIns="0" rtlCol="0" anchor="ctr"/>
          <a:lstStyle/>
          <a:p>
            <a:pPr marL="0" indent="0" algn="ctr">
              <a:buNone/>
            </a:pPr>
            <a:r>
              <a:rPr lang="en-US" sz="1300" dirty="0">
                <a:solidFill>
                  <a:srgbClr val="CBD5E1"/>
                </a:solidFill>
                <a:latin typeface="Calibri" pitchFamily="34" charset="0"/>
                <a:ea typeface="Calibri" pitchFamily="34" charset="-122"/>
                <a:cs typeface="Calibri" pitchFamily="34" charset="-120"/>
              </a:rPr>
              <a:t>Thank you  //  Questions welcome</a:t>
            </a:r>
            <a:endParaRPr lang="en-US" sz="1300" dirty="0"/>
          </a:p>
        </p:txBody>
      </p:sp>
      <p:sp>
        <p:nvSpPr>
          <p:cNvPr id="33" name="Text 31"/>
          <p:cNvSpPr/>
          <p:nvPr/>
        </p:nvSpPr>
        <p:spPr>
          <a:xfrm>
            <a:off x="457200" y="4279392"/>
            <a:ext cx="8229600" cy="256032"/>
          </a:xfrm>
          <a:prstGeom prst="rect">
            <a:avLst/>
          </a:prstGeom>
          <a:noFill/>
          <a:ln/>
        </p:spPr>
        <p:txBody>
          <a:bodyPr wrap="square" lIns="0" tIns="0" rIns="0" bIns="0" rtlCol="0" anchor="ctr"/>
          <a:lstStyle/>
          <a:p>
            <a:pPr marL="0" indent="0" algn="ctr">
              <a:buNone/>
            </a:pPr>
            <a:r>
              <a:rPr lang="en-US" sz="1000" b="1" dirty="0">
                <a:solidFill>
                  <a:srgbClr val="5EEAD4"/>
                </a:solidFill>
                <a:latin typeface="Calibri" pitchFamily="34" charset="0"/>
                <a:ea typeface="Calibri" pitchFamily="34" charset="-122"/>
                <a:cs typeface="Calibri" pitchFamily="34" charset="-120"/>
              </a:rPr>
              <a:t>TechCrush Bootcamp  //  Group 1  //  Capstone Project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2506</Words>
  <Application>Microsoft Office PowerPoint</Application>
  <PresentationFormat>On-screen Show (16:9)</PresentationFormat>
  <Paragraphs>360</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CloudDrop — File Upload App on AWS</dc:title>
  <dc:subject>PptxGenJS Presentation</dc:subject>
  <dc:creator>PptxGenJS</dc:creator>
  <cp:lastModifiedBy>Tosin Dada</cp:lastModifiedBy>
  <cp:revision>1</cp:revision>
  <dcterms:created xsi:type="dcterms:W3CDTF">2026-06-12T21:37:30Z</dcterms:created>
  <dcterms:modified xsi:type="dcterms:W3CDTF">2026-06-12T22:01:11Z</dcterms:modified>
</cp:coreProperties>
</file>